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69" r:id="rId19"/>
    <p:sldId id="279" r:id="rId20"/>
    <p:sldId id="278" r:id="rId21"/>
    <p:sldId id="267" r:id="rId22"/>
    <p:sldId id="280" r:id="rId23"/>
    <p:sldId id="270" r:id="rId24"/>
    <p:sldId id="272" r:id="rId25"/>
    <p:sldId id="276" r:id="rId26"/>
    <p:sldId id="281" r:id="rId27"/>
    <p:sldId id="283" r:id="rId28"/>
    <p:sldId id="282" r:id="rId29"/>
    <p:sldId id="275" r:id="rId30"/>
    <p:sldId id="284" r:id="rId31"/>
    <p:sldId id="27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BD172-45D3-DAE5-1DE9-7520D19A6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55D026-7502-C8F9-6756-84A76483A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8EF12-2B7E-8283-F49D-B68DEDD7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50-BCF4-4423-A2F9-53D72B0AA2EB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5E977-7B5B-D014-12F9-4147DC9BE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2B36C-52ED-898B-F158-BC676D898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8BE2-B82A-4E9E-9144-39304865A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227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467E4-5975-56ED-55ED-B03AF381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75AD4-6588-9EBA-8D3F-D7B829C87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FAB67-390B-761E-7589-9FFE64122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50-BCF4-4423-A2F9-53D72B0AA2EB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CA372-D0B4-F4D8-007F-3C9ADFDB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5FCF3-BABD-F490-2C8B-0B23AFB7E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8BE2-B82A-4E9E-9144-39304865A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98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7D15C-9EDB-BF55-11C3-3A8F60D9C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13769-0406-BF8D-2D6B-C5DD9F27B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CCD05-05AB-0093-925F-B9CB9A02E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50-BCF4-4423-A2F9-53D72B0AA2EB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B37D5-BD0A-289E-BE89-D28BA2004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BFA68-D901-9002-CDC9-867F7F140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8BE2-B82A-4E9E-9144-39304865A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899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88D7-EADA-1347-15C5-3EDD74EF8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51AC0-6B5D-44F6-50FF-88C72EC7DC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F78F03-71C7-40B5-00AF-909A447CE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6494B-734D-DF21-9B8E-81B0489FA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50-BCF4-4423-A2F9-53D72B0AA2EB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9327E-9E61-E5FD-5190-E4F6BDBD9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F18A5-1699-1C85-3AED-2C5419FB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8BE2-B82A-4E9E-9144-39304865A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951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DB9D3-F791-B034-EFBE-552B57AEB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66CDE-7149-3D60-562B-27BFFA5D7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824BC-704A-C9DA-7E00-8AB110AAD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1619E0-02A4-A74D-567E-936079C147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5F084-D437-B73F-004E-E030ECC55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8F0212-497E-92D2-25FF-D1898DCD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50-BCF4-4423-A2F9-53D72B0AA2EB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E6E6CA-B9E5-8E60-F5A3-80A0D7D1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7D53FF-9512-C013-D8EB-AD9844DE7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8BE2-B82A-4E9E-9144-39304865A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212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82209-FF3E-066B-A6F1-FCC95902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0FE12-443C-0BEA-A841-52D2DD14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50-BCF4-4423-A2F9-53D72B0AA2EB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151F92-9F04-0DDC-AD15-7BF3C1A70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C9124-9E50-3C5C-8285-9EDA0001F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8BE2-B82A-4E9E-9144-39304865A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076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D0D48-0076-593E-1667-D4AF1EA4C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50-BCF4-4423-A2F9-53D72B0AA2EB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C0CDDA-8CAF-BDBA-FAA7-CADEA9CF0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B8DA6-BFE5-FF99-FFF2-4BEBA5592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8BE2-B82A-4E9E-9144-39304865A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622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AE075-E5CF-F7F7-22B7-F34359C09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5CE5F-2CF3-5191-0671-546015D35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7E235-65E7-331E-55F4-4109DFB77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A3C9D-84CE-6E85-5C1C-233E26737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50-BCF4-4423-A2F9-53D72B0AA2EB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69033-BA5E-3A62-B82E-040C4E5D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55888-81FF-3AA6-208C-994813AC2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8BE2-B82A-4E9E-9144-39304865A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806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42A03-4DA7-9C63-8CDD-6D63BE768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59CC1F-8A8A-2F69-D321-42C9607093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C247D-2665-AA71-DB31-CA0D5AB09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05541-08C5-AB1A-4E84-3730262C7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50-BCF4-4423-A2F9-53D72B0AA2EB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B3661-E226-0272-53E2-9554A3C1A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48D8C-C64C-0D9F-DAB3-BE17C0805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8BE2-B82A-4E9E-9144-39304865A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17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3A4C8-C89A-9E4B-81DC-7AF31D38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D2E69-5742-AE16-9405-63F730471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05CFF-C727-97BE-6916-7A0BCAE3A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50-BCF4-4423-A2F9-53D72B0AA2EB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0B8AF-07D6-A9ED-F036-95FE94134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8113-9193-30D6-D34A-A9F52CD6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8BE2-B82A-4E9E-9144-39304865A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003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F34CE5-508A-0EF8-D29A-486A380C1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788CB-88BE-5B6A-2249-A5509CED3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4B561-5C68-F00D-686A-8B682FE68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50-BCF4-4423-A2F9-53D72B0AA2EB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86CB3-5CA1-2DF0-4720-4BA8387E6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93DE0-B5BB-F8A6-5183-A1EF63B76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8BE2-B82A-4E9E-9144-39304865A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534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1492AA-15B5-7B09-6A95-1A98B5210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73503-B079-19E2-E91C-2EFDF7334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77F47-341D-3A34-2F5E-E911F0662D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69E50-BCF4-4423-A2F9-53D72B0AA2EB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CD033-CA14-4730-477C-9FF555EA0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C2B9F-77D8-5FC9-09BA-F79D39CDF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18BE2-B82A-4E9E-9144-39304865A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62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1-023-02552-9" TargetMode="External"/><Relationship Id="rId7" Type="http://schemas.openxmlformats.org/officeDocument/2006/relationships/hyperlink" Target="https://diabetes.jmir.org/2019/3/e12905/" TargetMode="External"/><Relationship Id="rId2" Type="http://schemas.openxmlformats.org/officeDocument/2006/relationships/hyperlink" Target="https://doi.org/10.1109/JBHI.2021.310055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009.09051" TargetMode="External"/><Relationship Id="rId5" Type="http://schemas.openxmlformats.org/officeDocument/2006/relationships/hyperlink" Target="https://doi.org/10.1007/s41060-025-00857-1" TargetMode="External"/><Relationship Id="rId4" Type="http://schemas.openxmlformats.org/officeDocument/2006/relationships/hyperlink" Target="https://www.nature.com/articles/s41467-024-50764-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EE0B9A7-9905-D655-041A-8A27B642629E}"/>
              </a:ext>
            </a:extLst>
          </p:cNvPr>
          <p:cNvSpPr>
            <a:spLocks noGrp="1"/>
          </p:cNvSpPr>
          <p:nvPr/>
        </p:nvSpPr>
        <p:spPr>
          <a:xfrm>
            <a:off x="2331288" y="1785128"/>
            <a:ext cx="77724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Adaptive Insulin Dosage Prediction Using Reinforcement Learning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85075E-7438-A78E-1068-9AF56A5A0330}"/>
              </a:ext>
            </a:extLst>
          </p:cNvPr>
          <p:cNvSpPr>
            <a:spLocks noGrp="1"/>
          </p:cNvSpPr>
          <p:nvPr/>
        </p:nvSpPr>
        <p:spPr>
          <a:xfrm>
            <a:off x="2084966" y="3977115"/>
            <a:ext cx="7924801" cy="1524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defPPr>
              <a:defRPr lang="en-US"/>
            </a:defPPr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100" dirty="0">
                <a:solidFill>
                  <a:schemeClr val="tx1"/>
                </a:solidFill>
                <a:cs typeface="AngsanaUPC" panose="02020603050405020304" pitchFamily="18" charset="-34"/>
              </a:rPr>
              <a:t>Presented by</a:t>
            </a:r>
          </a:p>
          <a:p>
            <a:r>
              <a:rPr lang="en-US" sz="5000" b="1" dirty="0">
                <a:solidFill>
                  <a:srgbClr val="7030A0"/>
                </a:solidFill>
                <a:cs typeface="AngsanaUPC" panose="02020603050405020304" pitchFamily="18" charset="-34"/>
              </a:rPr>
              <a:t>  </a:t>
            </a:r>
            <a:r>
              <a:rPr lang="en-US" sz="3800" b="1" dirty="0">
                <a:solidFill>
                  <a:srgbClr val="7030A0"/>
                </a:solidFill>
                <a:cs typeface="AngsanaUPC" panose="02020603050405020304" pitchFamily="18" charset="-34"/>
              </a:rPr>
              <a:t>Mr. Mohammad Ashraf Baig  (228W1A12H2)</a:t>
            </a:r>
          </a:p>
          <a:p>
            <a:r>
              <a:rPr lang="en-US" sz="3800" b="1" dirty="0">
                <a:solidFill>
                  <a:srgbClr val="7030A0"/>
                </a:solidFill>
                <a:cs typeface="AngsanaUPC" panose="02020603050405020304" pitchFamily="18" charset="-34"/>
              </a:rPr>
              <a:t>Ms. Sarayu Guntupalli (228W1A12F2)</a:t>
            </a:r>
          </a:p>
          <a:p>
            <a:endParaRPr lang="en-US" b="1" dirty="0">
              <a:solidFill>
                <a:srgbClr val="7030A0"/>
              </a:solidFill>
              <a:cs typeface="AngsanaUPC" panose="02020603050405020304" pitchFamily="18" charset="-34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5B3215-E19C-1723-D476-C570BF1DD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70" y="457044"/>
            <a:ext cx="1600199" cy="866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63B797-4F3B-15CE-1540-125BB05F3EED}"/>
              </a:ext>
            </a:extLst>
          </p:cNvPr>
          <p:cNvSpPr txBox="1"/>
          <p:nvPr/>
        </p:nvSpPr>
        <p:spPr>
          <a:xfrm>
            <a:off x="3474288" y="510685"/>
            <a:ext cx="5486400" cy="758857"/>
          </a:xfrm>
          <a:prstGeom prst="rect">
            <a:avLst/>
          </a:prstGeom>
          <a:noFill/>
        </p:spPr>
        <p:txBody>
          <a:bodyPr wrap="square" lIns="19998" tIns="9999" rIns="19998" bIns="9999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b="1" dirty="0">
                <a:solidFill>
                  <a:srgbClr val="0000FF"/>
                </a:solidFill>
                <a:cs typeface="Times New Roman" pitchFamily="18" charset="0"/>
              </a:rPr>
              <a:t>Department of Information Technology</a:t>
            </a:r>
          </a:p>
          <a:p>
            <a:pPr algn="ctr"/>
            <a:r>
              <a:rPr lang="en-IN" sz="2400" b="1" dirty="0">
                <a:solidFill>
                  <a:srgbClr val="FF0000"/>
                </a:solidFill>
                <a:cs typeface="Times New Roman" pitchFamily="18" charset="0"/>
              </a:rPr>
              <a:t>V R Siddhartha Engineering College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F2A946-1172-C7F7-B07A-BD35007EBE66}"/>
              </a:ext>
            </a:extLst>
          </p:cNvPr>
          <p:cNvSpPr txBox="1"/>
          <p:nvPr/>
        </p:nvSpPr>
        <p:spPr>
          <a:xfrm>
            <a:off x="3685166" y="2950888"/>
            <a:ext cx="51612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B.Tech in Information Technology</a:t>
            </a:r>
          </a:p>
          <a:p>
            <a:pPr algn="ctr"/>
            <a:r>
              <a:rPr lang="en-US" sz="2000" b="1" dirty="0">
                <a:solidFill>
                  <a:srgbClr val="BF11A6"/>
                </a:solidFill>
              </a:rPr>
              <a:t>MINI Project Review Presentation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32B7D8-AA3C-C1F1-F637-FE078E1BC350}"/>
              </a:ext>
            </a:extLst>
          </p:cNvPr>
          <p:cNvSpPr/>
          <p:nvPr/>
        </p:nvSpPr>
        <p:spPr>
          <a:xfrm>
            <a:off x="3931488" y="5757876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cs typeface="AngsanaUPC" panose="02020603050405020304" pitchFamily="18" charset="-34"/>
              </a:rPr>
              <a:t>Under the guidance of </a:t>
            </a:r>
          </a:p>
          <a:p>
            <a:pPr algn="ctr"/>
            <a:r>
              <a:rPr lang="en-US" sz="2400" dirty="0">
                <a:cs typeface="AngsanaUPC" panose="02020603050405020304" pitchFamily="18" charset="-34"/>
              </a:rPr>
              <a:t> </a:t>
            </a:r>
            <a:r>
              <a:rPr lang="en-US" sz="2400" b="1" dirty="0">
                <a:solidFill>
                  <a:srgbClr val="FF0000"/>
                </a:solidFill>
                <a:cs typeface="AngsanaUPC" panose="02020603050405020304" pitchFamily="18" charset="-34"/>
              </a:rPr>
              <a:t>Dr. </a:t>
            </a:r>
            <a:r>
              <a:rPr lang="en-US" sz="2400" b="1" dirty="0" err="1">
                <a:solidFill>
                  <a:srgbClr val="FF0000"/>
                </a:solidFill>
                <a:cs typeface="AngsanaUPC" panose="02020603050405020304" pitchFamily="18" charset="-34"/>
              </a:rPr>
              <a:t>G.Kalyani</a:t>
            </a:r>
            <a:r>
              <a:rPr lang="en-US" sz="2400" b="1" dirty="0">
                <a:solidFill>
                  <a:srgbClr val="FF0000"/>
                </a:solidFill>
                <a:cs typeface="AngsanaUPC" panose="02020603050405020304" pitchFamily="18" charset="-34"/>
              </a:rPr>
              <a:t> , </a:t>
            </a:r>
            <a:r>
              <a:rPr lang="en-US" sz="2400" b="1" dirty="0" err="1">
                <a:solidFill>
                  <a:srgbClr val="FF0000"/>
                </a:solidFill>
                <a:cs typeface="AngsanaUPC" panose="02020603050405020304" pitchFamily="18" charset="-34"/>
              </a:rPr>
              <a:t>Assoc.Prof</a:t>
            </a:r>
            <a:r>
              <a:rPr lang="en-US" sz="2400" b="1" dirty="0">
                <a:solidFill>
                  <a:srgbClr val="FF0000"/>
                </a:solidFill>
                <a:cs typeface="AngsanaUPC" panose="02020603050405020304" pitchFamily="18" charset="-34"/>
              </a:rPr>
              <a:t>.</a:t>
            </a:r>
          </a:p>
        </p:txBody>
      </p:sp>
      <p:pic>
        <p:nvPicPr>
          <p:cNvPr id="10" name="Picture 9" descr="Image result for vrsec">
            <a:extLst>
              <a:ext uri="{FF2B5EF4-FFF2-40B4-BE49-F238E27FC236}">
                <a16:creationId xmlns:a16="http://schemas.microsoft.com/office/drawing/2014/main" id="{92448EA0-1651-544F-7196-1AD4B993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358" y="269127"/>
            <a:ext cx="1068572" cy="124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82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B44E0-F0D9-492F-FA8D-9AD020291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Agenda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17956-90DE-62B6-B6D1-9934D2E37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Overview of the work done</a:t>
            </a:r>
          </a:p>
          <a:p>
            <a:r>
              <a:rPr lang="en-US" dirty="0"/>
              <a:t>Introduction and Problem Statement</a:t>
            </a:r>
          </a:p>
          <a:p>
            <a:r>
              <a:rPr lang="en-US" dirty="0"/>
              <a:t>Objectives and Outcomes of the Project</a:t>
            </a:r>
          </a:p>
          <a:p>
            <a:r>
              <a:rPr lang="en-US" dirty="0"/>
              <a:t>Literature review and summary</a:t>
            </a:r>
          </a:p>
          <a:p>
            <a:r>
              <a:rPr lang="en-US" dirty="0"/>
              <a:t>Datasets and Requirements</a:t>
            </a:r>
          </a:p>
          <a:p>
            <a:pPr algn="just"/>
            <a:r>
              <a:rPr lang="en-US" dirty="0"/>
              <a:t>Algorithms used in the project</a:t>
            </a:r>
          </a:p>
          <a:p>
            <a:r>
              <a:rPr lang="en-US" dirty="0"/>
              <a:t>Architecture/ Flow of the project</a:t>
            </a:r>
          </a:p>
          <a:p>
            <a:r>
              <a:rPr lang="en-US" dirty="0"/>
              <a:t>Project Execution</a:t>
            </a:r>
          </a:p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118258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0C878-EA98-853F-878D-F23A6A640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03D7F-A1A0-FFD5-922C-38FBA5733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Diabetes patients need accurate insulin dosage prediction to maintain glucose in safe range (70–180 mg/dL).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Incorrect dosage can cause hypoglycemia (&lt;70) or hyperglycemia (&gt;180).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Single-algorithm evaluation (Mini-2) is insufficient to understand stability vs sample efficiency trade-offs.</a:t>
            </a:r>
          </a:p>
          <a:p>
            <a:pPr algn="just"/>
            <a:endParaRPr lang="en-US" dirty="0"/>
          </a:p>
          <a:p>
            <a:r>
              <a:rPr lang="en-US" dirty="0"/>
              <a:t>On-policy and off-policy methods may behave differently in safety-critical glucose regulation.</a:t>
            </a:r>
          </a:p>
          <a:p>
            <a:pPr algn="just"/>
            <a:endParaRPr lang="en-US" dirty="0"/>
          </a:p>
          <a:p>
            <a:r>
              <a:rPr lang="en-US" dirty="0"/>
              <a:t>Comparative Reinforcement Learning with adaptive entropy aims to improve robustness, stability, and clinical safety.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896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C2ED8-32CE-5695-681A-7C880B02A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8DC6E-E0FE-28F2-31B1-9F5624C26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/>
              <a:t>To design and evaluate a comparative Reinforcement Learning framework (PPO vs TD3) with adaptive entropy regulation for safe and stable insulin dosage prediction using simulated patient data, maximizing Time-in-Range while minimizing </a:t>
            </a:r>
            <a:r>
              <a:rPr lang="en-IN" dirty="0" err="1"/>
              <a:t>hypoglycemia</a:t>
            </a:r>
            <a:r>
              <a:rPr lang="en-IN" dirty="0"/>
              <a:t> and insulin overuse.</a:t>
            </a:r>
          </a:p>
        </p:txBody>
      </p:sp>
    </p:spTree>
    <p:extLst>
      <p:ext uri="{BB962C8B-B14F-4D97-AF65-F5344CB8AC3E}">
        <p14:creationId xmlns:p14="http://schemas.microsoft.com/office/powerpoint/2010/main" val="2532015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26265-829B-F3C3-41B0-5C778D81B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2FF2F-4342-0E73-1FB6-EC97DAEF6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Implement and evaluate PPO, TD3 for closed-loop insulin control.</a:t>
            </a:r>
          </a:p>
          <a:p>
            <a:pPr algn="just"/>
            <a:endParaRPr lang="en-US" dirty="0"/>
          </a:p>
          <a:p>
            <a:pPr algn="just"/>
            <a:r>
              <a:rPr lang="en-IN" dirty="0"/>
              <a:t>Develop Entropy-Regulated PPO (ER-PPO) for improved stability.</a:t>
            </a:r>
          </a:p>
          <a:p>
            <a:pPr algn="just"/>
            <a:endParaRPr lang="en-IN" dirty="0"/>
          </a:p>
          <a:p>
            <a:r>
              <a:rPr lang="en-US" dirty="0"/>
              <a:t> Perform multi-patient comparative clinical evaluation (Time-in-Range, Hypo/Hyper %, Mean Glucose).</a:t>
            </a:r>
          </a:p>
          <a:p>
            <a:endParaRPr lang="en-US" dirty="0"/>
          </a:p>
          <a:p>
            <a:r>
              <a:rPr lang="en-US" dirty="0"/>
              <a:t> Analyze stability vs sample efficiency in safety-critical glucose regulation.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4098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A03EE-0DAA-C021-6F89-FB9E5A87E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Outcomes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ED975-DA89-8DFA-0FCF-2AE09E29D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Comparitive</a:t>
            </a:r>
            <a:r>
              <a:rPr lang="en-US" dirty="0"/>
              <a:t> evaluation of PPO, TD3, and ER-PPO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2.</a:t>
            </a:r>
            <a:r>
              <a:rPr lang="en-IN" dirty="0">
                <a:solidFill>
                  <a:srgbClr val="0D0D0D"/>
                </a:solidFill>
                <a:latin typeface="ui-sans-serif"/>
              </a:rPr>
              <a:t> </a:t>
            </a:r>
            <a:r>
              <a:rPr lang="en-US" dirty="0"/>
              <a:t>Improved stability through adaptive entropy regulation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3. Higher Time-in-Range with reduced hypoglycemia risk.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IN" dirty="0"/>
              <a:t>Structured multi-patient clinical performance analysis.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2195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BA5-DAE1-CCB1-FF26-5AE6EC39B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4177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Literature Review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72244A-4D83-1C88-3400-8E5B1FA83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81" y="1516619"/>
            <a:ext cx="11887438" cy="421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379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5491F-1281-908E-1F56-84E52397E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1466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Literature Review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B57FCF-21E4-FC6A-2ED1-F8FAD0434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71" y="1596011"/>
            <a:ext cx="11881457" cy="389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332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F7AB8-C223-1221-13C4-05F71EE03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Datasets and Requirements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2A4B7-9C08-88E7-568E-837BD83D0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Datasets / Simulators: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UVA/Padova T1D Simulator (Adults, Adolescents, Children).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glucose, insulin, and meal data.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Requirements: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Python, TensorFlow/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gym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simglucose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stable-baselines3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7906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528CB-A55B-6F16-47C2-A857950FD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Algorithms used in the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8135F-A0C0-9D1F-D0D7-D46C36FEB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7907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Proximal Policy Optimization (PPO)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An advanced Actor-Critic algorithm. The </a:t>
            </a:r>
            <a:r>
              <a:rPr lang="en-US" b="1" dirty="0"/>
              <a:t>Actor</a:t>
            </a:r>
            <a:r>
              <a:rPr lang="en-US" dirty="0"/>
              <a:t> suggests insulin doses, and the </a:t>
            </a:r>
            <a:r>
              <a:rPr lang="en-US" b="1" dirty="0"/>
              <a:t>Critic</a:t>
            </a:r>
            <a:r>
              <a:rPr lang="en-US" dirty="0"/>
              <a:t> evaluates them. PPO ensures stable and safe learning by limiting large policy updates. Best suited for sensitive tasks like insulin dosing.</a:t>
            </a:r>
          </a:p>
          <a:p>
            <a:r>
              <a:rPr lang="en-US" b="1" dirty="0"/>
              <a:t>Twin Delayed Deep Deterministic Policy Gradient (TD3)</a:t>
            </a:r>
            <a:br>
              <a:rPr lang="en-US" dirty="0"/>
            </a:br>
            <a:r>
              <a:rPr lang="en-US" dirty="0"/>
              <a:t>An off-policy Actor-Critic algorithm with twin Q-networks to reduce overestimation bias. Uses replay buffer and delayed updates for improved sample efficiency and stability in continuous insulin control.</a:t>
            </a:r>
          </a:p>
          <a:p>
            <a:r>
              <a:rPr lang="en-IN" b="1" dirty="0"/>
              <a:t>Entropy-Regulated PPO (ER-PPO)</a:t>
            </a:r>
            <a:br>
              <a:rPr lang="en-IN" dirty="0"/>
            </a:br>
            <a:r>
              <a:rPr lang="en-IN" dirty="0"/>
              <a:t>An improved PPO variant with adaptive entropy tuning. Adjusts exploration dynamically during training to balance stability and performance, aiming to improve glucose regulation and robustness.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936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85F3D-B349-D292-BB13-181AFC2E2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21" y="209746"/>
            <a:ext cx="11802359" cy="64385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Algorithm PPO for Closed-Loop Insulin Control (Phase 2 Baseline)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Require: Environment E, actor </a:t>
            </a:r>
            <a:r>
              <a:rPr lang="en-IN" sz="2400" dirty="0" err="1"/>
              <a:t>pi_theta</a:t>
            </a:r>
            <a:r>
              <a:rPr lang="en-IN" sz="2400" dirty="0"/>
              <a:t>, critic </a:t>
            </a:r>
            <a:r>
              <a:rPr lang="en-IN" sz="2400" dirty="0" err="1"/>
              <a:t>V_phi</a:t>
            </a:r>
            <a:r>
              <a:rPr lang="en-IN" sz="2400" dirty="0"/>
              <a:t>,</a:t>
            </a:r>
          </a:p>
          <a:p>
            <a:pPr marL="0" indent="0">
              <a:buNone/>
            </a:pPr>
            <a:r>
              <a:rPr lang="en-IN" sz="2400" dirty="0"/>
              <a:t>         clip ratio eps = 0.2, discount gamma = 0.99, entropy </a:t>
            </a:r>
            <a:r>
              <a:rPr lang="en-IN" sz="2400" dirty="0" err="1"/>
              <a:t>coeff</a:t>
            </a:r>
            <a:r>
              <a:rPr lang="en-IN" sz="2400" dirty="0"/>
              <a:t> alpha = 0.01</a:t>
            </a:r>
          </a:p>
          <a:p>
            <a:pPr marL="0" indent="0">
              <a:buNone/>
            </a:pPr>
            <a:r>
              <a:rPr lang="en-IN" sz="2400" dirty="0"/>
              <a:t>Ensure:  Trained policy </a:t>
            </a:r>
            <a:r>
              <a:rPr lang="en-IN" sz="2400" dirty="0" err="1"/>
              <a:t>pi_theta</a:t>
            </a:r>
            <a:r>
              <a:rPr lang="en-IN" sz="2400" dirty="0"/>
              <a:t>*</a:t>
            </a:r>
          </a:p>
          <a:p>
            <a:pPr marL="0" indent="0">
              <a:buNone/>
            </a:pPr>
            <a:r>
              <a:rPr lang="en-IN" sz="2400" dirty="0"/>
              <a:t>1.  Initialise actor parameters theta and critic parameters phi randomly.</a:t>
            </a:r>
          </a:p>
          <a:p>
            <a:pPr marL="0" indent="0">
              <a:buNone/>
            </a:pPr>
            <a:r>
              <a:rPr lang="en-IN" sz="2400" dirty="0"/>
              <a:t>2.  For each training episode </a:t>
            </a:r>
            <a:r>
              <a:rPr lang="en-IN" sz="2400" dirty="0" err="1"/>
              <a:t>i</a:t>
            </a:r>
            <a:r>
              <a:rPr lang="en-IN" sz="2400" dirty="0"/>
              <a:t> = 1 to N do</a:t>
            </a:r>
          </a:p>
          <a:p>
            <a:pPr marL="0" indent="0">
              <a:buNone/>
            </a:pPr>
            <a:r>
              <a:rPr lang="en-IN" sz="2400" dirty="0"/>
              <a:t>3.      Reset E; observe initial state s_0.</a:t>
            </a:r>
          </a:p>
          <a:p>
            <a:pPr marL="0" indent="0">
              <a:buNone/>
            </a:pPr>
            <a:r>
              <a:rPr lang="en-IN" sz="2400" dirty="0"/>
              <a:t>4.      Collect trajectory tau = {</a:t>
            </a:r>
            <a:r>
              <a:rPr lang="en-IN" sz="2400" dirty="0" err="1"/>
              <a:t>s_t</a:t>
            </a:r>
            <a:r>
              <a:rPr lang="en-IN" sz="2400" dirty="0"/>
              <a:t>, </a:t>
            </a:r>
            <a:r>
              <a:rPr lang="en-IN" sz="2400" dirty="0" err="1"/>
              <a:t>a_t</a:t>
            </a:r>
            <a:r>
              <a:rPr lang="en-IN" sz="2400" dirty="0"/>
              <a:t>, </a:t>
            </a:r>
            <a:r>
              <a:rPr lang="en-IN" sz="2400" dirty="0" err="1"/>
              <a:t>r_t</a:t>
            </a:r>
            <a:r>
              <a:rPr lang="en-IN" sz="2400" dirty="0"/>
              <a:t>} for T = 1000 timesteps:</a:t>
            </a:r>
          </a:p>
          <a:p>
            <a:pPr marL="0" indent="0">
              <a:buNone/>
            </a:pPr>
            <a:r>
              <a:rPr lang="en-IN" sz="2400" dirty="0"/>
              <a:t>5.          Sample </a:t>
            </a:r>
            <a:r>
              <a:rPr lang="en-IN" sz="2400" dirty="0" err="1"/>
              <a:t>a_t</a:t>
            </a:r>
            <a:r>
              <a:rPr lang="en-IN" sz="2400" dirty="0"/>
              <a:t> ~ </a:t>
            </a:r>
            <a:r>
              <a:rPr lang="en-IN" sz="2400" dirty="0" err="1"/>
              <a:t>pi_theta</a:t>
            </a:r>
            <a:r>
              <a:rPr lang="en-IN" sz="2400" dirty="0"/>
              <a:t>(.|</a:t>
            </a:r>
            <a:r>
              <a:rPr lang="en-IN" sz="2400" dirty="0" err="1"/>
              <a:t>s_t</a:t>
            </a:r>
            <a:r>
              <a:rPr lang="en-IN" sz="2400" dirty="0"/>
              <a:t>); apply to E; receive </a:t>
            </a:r>
            <a:r>
              <a:rPr lang="en-IN" sz="2400" dirty="0" err="1"/>
              <a:t>r_t</a:t>
            </a:r>
            <a:r>
              <a:rPr lang="en-IN" sz="2400" dirty="0"/>
              <a:t>, s_{t+1}.</a:t>
            </a:r>
          </a:p>
          <a:p>
            <a:pPr marL="0" indent="0">
              <a:buNone/>
            </a:pPr>
            <a:r>
              <a:rPr lang="en-IN" sz="2400" dirty="0"/>
              <a:t>6.      Compute discounted returns </a:t>
            </a:r>
            <a:r>
              <a:rPr lang="en-IN" sz="2400" dirty="0" err="1"/>
              <a:t>R_t</a:t>
            </a:r>
            <a:r>
              <a:rPr lang="en-IN" sz="2400" dirty="0"/>
              <a:t> and GAE advantages </a:t>
            </a:r>
            <a:r>
              <a:rPr lang="en-IN" sz="2400" dirty="0" err="1"/>
              <a:t>A_hat_t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r>
              <a:rPr lang="en-IN" sz="2400" dirty="0"/>
              <a:t>7.      For each PPO update epoch k = 1 to K do</a:t>
            </a:r>
          </a:p>
          <a:p>
            <a:pPr marL="0" indent="0">
              <a:buNone/>
            </a:pPr>
            <a:r>
              <a:rPr lang="en-IN" sz="2400" dirty="0"/>
              <a:t>8.          For each mini-batch (s, a, </a:t>
            </a:r>
            <a:r>
              <a:rPr lang="en-IN" sz="2400" dirty="0" err="1"/>
              <a:t>A_hat</a:t>
            </a:r>
            <a:r>
              <a:rPr lang="en-IN" sz="2400" dirty="0"/>
              <a:t>, R) from tau do</a:t>
            </a:r>
          </a:p>
          <a:p>
            <a:pPr marL="0" indent="0">
              <a:buNone/>
            </a:pPr>
            <a:r>
              <a:rPr lang="en-IN" sz="2400" dirty="0"/>
              <a:t>9.              rho = </a:t>
            </a:r>
            <a:r>
              <a:rPr lang="en-IN" sz="2400" dirty="0" err="1"/>
              <a:t>pi_theta</a:t>
            </a:r>
            <a:r>
              <a:rPr lang="en-IN" sz="2400" dirty="0"/>
              <a:t>(</a:t>
            </a:r>
            <a:r>
              <a:rPr lang="en-IN" sz="2400" dirty="0" err="1"/>
              <a:t>a|s</a:t>
            </a:r>
            <a:r>
              <a:rPr lang="en-IN" sz="2400" dirty="0"/>
              <a:t>) / </a:t>
            </a:r>
            <a:r>
              <a:rPr lang="en-IN" sz="2400" dirty="0" err="1"/>
              <a:t>pi_theta_old</a:t>
            </a:r>
            <a:r>
              <a:rPr lang="en-IN" sz="2400" dirty="0"/>
              <a:t>(</a:t>
            </a:r>
            <a:r>
              <a:rPr lang="en-IN" sz="2400" dirty="0" err="1"/>
              <a:t>a|s</a:t>
            </a:r>
            <a:r>
              <a:rPr lang="en-IN" sz="2400" dirty="0"/>
              <a:t>)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95758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44535F-BDA0-C2C0-3E16-8680C3952C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785" y="515299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dirty="0"/>
                  <a:t>10.             L_CLIP = min(rho*</a:t>
                </a:r>
                <a:r>
                  <a:rPr lang="en-IN" sz="2400" dirty="0" err="1"/>
                  <a:t>A_hat</a:t>
                </a:r>
                <a:r>
                  <a:rPr lang="en-IN" sz="2400" dirty="0"/>
                  <a:t>, clip(rho, 1-eps, 1+eps)*</a:t>
                </a:r>
                <a:r>
                  <a:rPr lang="en-IN" sz="2400" dirty="0" err="1"/>
                  <a:t>A_hat</a:t>
                </a:r>
                <a:r>
                  <a:rPr lang="en-IN" sz="2400" dirty="0"/>
                  <a:t>)</a:t>
                </a:r>
              </a:p>
              <a:p>
                <a:pPr marL="0" indent="0">
                  <a:buNone/>
                </a:pPr>
                <a:r>
                  <a:rPr lang="en-IN" sz="2400" dirty="0"/>
                  <a:t>11.             L_V    = (</a:t>
                </a:r>
                <a:r>
                  <a:rPr lang="en-IN" sz="2400" dirty="0" err="1"/>
                  <a:t>V_phi</a:t>
                </a:r>
                <a:r>
                  <a:rPr lang="en-IN" sz="2400" dirty="0"/>
                  <a:t>(s) - R)^2</a:t>
                </a:r>
              </a:p>
              <a:p>
                <a:pPr marL="0" indent="0">
                  <a:buNone/>
                </a:pPr>
                <a:r>
                  <a:rPr lang="en-IN" sz="2400" dirty="0"/>
                  <a:t>12.             L_H    = -alpha * H(</a:t>
                </a:r>
                <a:r>
                  <a:rPr lang="en-IN" sz="2400" dirty="0" err="1"/>
                  <a:t>pi_theta</a:t>
                </a:r>
                <a:r>
                  <a:rPr lang="en-IN" sz="2400" dirty="0"/>
                  <a:t>(.|s))</a:t>
                </a:r>
              </a:p>
              <a:p>
                <a:pPr marL="0" indent="0">
                  <a:buNone/>
                </a:pPr>
                <a:r>
                  <a:rPr lang="en-IN" sz="2400" dirty="0"/>
                  <a:t>13.             </a:t>
                </a:r>
                <a:r>
                  <a:rPr lang="en-IN" sz="2400" dirty="0" err="1"/>
                  <a:t>L_total</a:t>
                </a:r>
                <a:r>
                  <a:rPr lang="en-IN" sz="2400" dirty="0"/>
                  <a:t> = -L_CLIP + c*L_V + L_H</a:t>
                </a:r>
              </a:p>
              <a:p>
                <a:pPr marL="0" indent="0">
                  <a:buNone/>
                </a:pPr>
                <a:r>
                  <a:rPr lang="en-IN" sz="2400" dirty="0"/>
                  <a:t>14.             Update theta and phi by gradient descent on </a:t>
                </a:r>
                <a:r>
                  <a:rPr lang="en-IN" sz="2400" dirty="0" err="1"/>
                  <a:t>L_total</a:t>
                </a:r>
                <a:r>
                  <a:rPr lang="en-IN" sz="2400" dirty="0"/>
                  <a:t>.</a:t>
                </a:r>
              </a:p>
              <a:p>
                <a:pPr marL="0" indent="0">
                  <a:buNone/>
                </a:pPr>
                <a:r>
                  <a:rPr lang="en-IN" sz="2400" dirty="0"/>
                  <a:t>15.         End for</a:t>
                </a:r>
              </a:p>
              <a:p>
                <a:pPr marL="0" indent="0">
                  <a:buNone/>
                </a:pPr>
                <a:r>
                  <a:rPr lang="en-IN" sz="2400" dirty="0"/>
                  <a:t>16.     End for</a:t>
                </a:r>
              </a:p>
              <a:p>
                <a:pPr marL="0" indent="0">
                  <a:buNone/>
                </a:pPr>
                <a:r>
                  <a:rPr lang="en-IN" sz="2400" dirty="0"/>
                  <a:t>17. End for</a:t>
                </a:r>
              </a:p>
              <a:p>
                <a:pPr marL="0" indent="0">
                  <a:buNone/>
                </a:pPr>
                <a:r>
                  <a:rPr lang="en-IN" sz="2400" dirty="0"/>
                  <a:t>18. Return </a:t>
                </a:r>
                <a:r>
                  <a:rPr lang="en-IN" sz="2400" dirty="0" err="1"/>
                  <a:t>pi_theta</a:t>
                </a:r>
                <a:r>
                  <a:rPr lang="en-IN" sz="2400" dirty="0"/>
                  <a:t>*.</a:t>
                </a:r>
              </a:p>
              <a:p>
                <a:pPr marL="0" indent="0">
                  <a:buNone/>
                </a:pPr>
                <a:r>
                  <a:rPr lang="en-IN" sz="2400" dirty="0"/>
                  <a:t>The PPO clipped surrogate objective is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𝐶𝐿𝐼𝑃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𝔼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/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) · </m:t>
                              </m:r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Â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𝑐𝑙𝑖𝑝</m:t>
                              </m:r>
                              <m:d>
                                <m:d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), 1−</m:t>
                                  </m:r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, 1+</m:t>
                                  </m:r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 · </m:t>
                              </m:r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Â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𝑜𝑙𝑑</m:t>
                              </m:r>
                            </m:sub>
                            <m:sup/>
                          </m:sSubSup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 | 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400" dirty="0"/>
              </a:p>
              <a:p>
                <a:endParaRPr lang="en-IN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44535F-BDA0-C2C0-3E16-8680C3952C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785" y="515299"/>
                <a:ext cx="10515600" cy="4351338"/>
              </a:xfrm>
              <a:blipFill>
                <a:blip r:embed="rId2"/>
                <a:stretch>
                  <a:fillRect l="-870" t="-1964" b="-32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881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949F8-F20C-BEC3-082A-0E1D5F8DD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18" y="289055"/>
            <a:ext cx="10515600" cy="61494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Algorithm Twin Delayed Deep Deterministic Policy Gradient (TD3)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Require: Environment E, actor </a:t>
            </a:r>
            <a:r>
              <a:rPr lang="en-IN" sz="2400" dirty="0" err="1"/>
              <a:t>mu_theta</a:t>
            </a:r>
            <a:r>
              <a:rPr lang="en-IN" sz="2400" dirty="0"/>
              <a:t>, twin critics Q_phi1 and Q_phi2,</a:t>
            </a:r>
          </a:p>
          <a:p>
            <a:pPr marL="0" indent="0">
              <a:buNone/>
            </a:pPr>
            <a:r>
              <a:rPr lang="en-IN" sz="2400" dirty="0"/>
              <a:t>         replay buffer B, policy noise sigma = 0.2, update delay d = 2</a:t>
            </a:r>
          </a:p>
          <a:p>
            <a:pPr marL="0" indent="0">
              <a:buNone/>
            </a:pPr>
            <a:r>
              <a:rPr lang="en-IN" sz="2400" dirty="0"/>
              <a:t>Ensure:  Trained deterministic policy </a:t>
            </a:r>
            <a:r>
              <a:rPr lang="en-IN" sz="2400" dirty="0" err="1"/>
              <a:t>mu_theta</a:t>
            </a:r>
            <a:r>
              <a:rPr lang="en-IN" sz="2400" dirty="0"/>
              <a:t>*</a:t>
            </a:r>
          </a:p>
          <a:p>
            <a:pPr marL="0" indent="0">
              <a:buNone/>
            </a:pPr>
            <a:r>
              <a:rPr lang="en-IN" sz="2400" dirty="0"/>
              <a:t>1.  Initialise all networks, target networks, and replay buffer B.</a:t>
            </a:r>
          </a:p>
          <a:p>
            <a:pPr marL="0" indent="0">
              <a:buNone/>
            </a:pPr>
            <a:r>
              <a:rPr lang="en-IN" sz="2400" dirty="0"/>
              <a:t>2.  For each timestep t = 1 to </a:t>
            </a:r>
            <a:r>
              <a:rPr lang="en-IN" sz="2400" dirty="0" err="1"/>
              <a:t>T_total</a:t>
            </a:r>
            <a:r>
              <a:rPr lang="en-IN" sz="2400" dirty="0"/>
              <a:t> do</a:t>
            </a:r>
          </a:p>
          <a:p>
            <a:pPr marL="0" indent="0">
              <a:buNone/>
            </a:pPr>
            <a:r>
              <a:rPr lang="en-IN" sz="2400" dirty="0"/>
              <a:t>3.      </a:t>
            </a:r>
            <a:r>
              <a:rPr lang="en-IN" sz="2400" dirty="0" err="1"/>
              <a:t>a_t</a:t>
            </a:r>
            <a:r>
              <a:rPr lang="en-IN" sz="2400" dirty="0"/>
              <a:t> = </a:t>
            </a:r>
            <a:r>
              <a:rPr lang="en-IN" sz="2400" dirty="0" err="1"/>
              <a:t>mu_theta</a:t>
            </a:r>
            <a:r>
              <a:rPr lang="en-IN" sz="2400" dirty="0"/>
              <a:t>(</a:t>
            </a:r>
            <a:r>
              <a:rPr lang="en-IN" sz="2400" dirty="0" err="1"/>
              <a:t>s_t</a:t>
            </a:r>
            <a:r>
              <a:rPr lang="en-IN" sz="2400" dirty="0"/>
              <a:t>) + eps,  eps ~ N(0, </a:t>
            </a:r>
            <a:r>
              <a:rPr lang="en-IN" sz="2400" dirty="0" err="1"/>
              <a:t>sigma_explore</a:t>
            </a:r>
            <a:r>
              <a:rPr lang="en-IN" sz="2400" dirty="0"/>
              <a:t>)</a:t>
            </a:r>
          </a:p>
          <a:p>
            <a:pPr marL="0" indent="0">
              <a:buNone/>
            </a:pPr>
            <a:r>
              <a:rPr lang="en-IN" sz="2400" dirty="0"/>
              <a:t>4.      Execute </a:t>
            </a:r>
            <a:r>
              <a:rPr lang="en-IN" sz="2400" dirty="0" err="1"/>
              <a:t>a_t</a:t>
            </a:r>
            <a:r>
              <a:rPr lang="en-IN" sz="2400" dirty="0"/>
              <a:t>; observe </a:t>
            </a:r>
            <a:r>
              <a:rPr lang="en-IN" sz="2400" dirty="0" err="1"/>
              <a:t>r_t</a:t>
            </a:r>
            <a:r>
              <a:rPr lang="en-IN" sz="2400" dirty="0"/>
              <a:t> and s_{t+1}; store in B.</a:t>
            </a:r>
          </a:p>
          <a:p>
            <a:pPr marL="0" indent="0">
              <a:buNone/>
            </a:pPr>
            <a:r>
              <a:rPr lang="en-IN" sz="2400" dirty="0"/>
              <a:t>5.      If |B| &gt;= batch size then</a:t>
            </a:r>
          </a:p>
          <a:p>
            <a:pPr marL="0" indent="0">
              <a:buNone/>
            </a:pPr>
            <a:r>
              <a:rPr lang="en-IN" sz="2400" dirty="0"/>
              <a:t>6.          Sample mini-batch from B.</a:t>
            </a:r>
          </a:p>
          <a:p>
            <a:pPr marL="0" indent="0">
              <a:buNone/>
            </a:pPr>
            <a:r>
              <a:rPr lang="en-IN" sz="2400" dirty="0"/>
              <a:t>7.          Smoothed target: </a:t>
            </a:r>
            <a:r>
              <a:rPr lang="en-IN" sz="2400" dirty="0" err="1"/>
              <a:t>a_tilde</a:t>
            </a:r>
            <a:r>
              <a:rPr lang="en-IN" sz="2400" dirty="0"/>
              <a:t> = </a:t>
            </a:r>
            <a:r>
              <a:rPr lang="en-IN" sz="2400" dirty="0" err="1"/>
              <a:t>mu_theta_target</a:t>
            </a:r>
            <a:r>
              <a:rPr lang="en-IN" sz="2400" dirty="0"/>
              <a:t>(s') + clip(N(0,sigma), -c, c)</a:t>
            </a:r>
          </a:p>
          <a:p>
            <a:pPr marL="0" indent="0">
              <a:buNone/>
            </a:pPr>
            <a:r>
              <a:rPr lang="en-IN" sz="2400" dirty="0"/>
              <a:t>8.          TD target: y = r + gamma * min(Q_phi1_target(s',</a:t>
            </a:r>
            <a:r>
              <a:rPr lang="en-IN" sz="2400" dirty="0" err="1"/>
              <a:t>a_tilde</a:t>
            </a:r>
            <a:r>
              <a:rPr lang="en-IN" sz="2400" dirty="0"/>
              <a:t>), Q_phi2_target(s',</a:t>
            </a:r>
            <a:r>
              <a:rPr lang="en-IN" sz="2400" dirty="0" err="1"/>
              <a:t>a_tilde</a:t>
            </a:r>
            <a:r>
              <a:rPr lang="en-IN" sz="2400" dirty="0"/>
              <a:t>))</a:t>
            </a:r>
          </a:p>
          <a:p>
            <a:pPr marL="0" indent="0">
              <a:buNone/>
            </a:pPr>
            <a:r>
              <a:rPr lang="en-IN" sz="2400" dirty="0"/>
              <a:t>9.          Update critics by minimising (</a:t>
            </a:r>
            <a:r>
              <a:rPr lang="en-IN" sz="2400" dirty="0" err="1"/>
              <a:t>Q_phi_i</a:t>
            </a:r>
            <a:r>
              <a:rPr lang="en-IN" sz="2400" dirty="0"/>
              <a:t>(</a:t>
            </a:r>
            <a:r>
              <a:rPr lang="en-IN" sz="2400" dirty="0" err="1"/>
              <a:t>s,a</a:t>
            </a:r>
            <a:r>
              <a:rPr lang="en-IN" sz="2400" dirty="0"/>
              <a:t>) - y)^2 for </a:t>
            </a:r>
            <a:r>
              <a:rPr lang="en-IN" sz="2400" dirty="0" err="1"/>
              <a:t>i</a:t>
            </a:r>
            <a:r>
              <a:rPr lang="en-IN" sz="2400" dirty="0"/>
              <a:t> = 1, 2.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94631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2DBC6F-F7C4-31B7-FCFC-D12E58F170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35811"/>
                <a:ext cx="10515600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IN" dirty="0"/>
                  <a:t>10.         If t mod d = 0 then  {delayed policy update}</a:t>
                </a:r>
              </a:p>
              <a:p>
                <a:pPr marL="0" indent="0">
                  <a:buNone/>
                </a:pPr>
                <a:r>
                  <a:rPr lang="en-IN" dirty="0"/>
                  <a:t>11.             Update actor: maximise Q_phi1(s, </a:t>
                </a:r>
                <a:r>
                  <a:rPr lang="en-IN" dirty="0" err="1"/>
                  <a:t>mu_theta</a:t>
                </a:r>
                <a:r>
                  <a:rPr lang="en-IN" dirty="0"/>
                  <a:t>(s)).</a:t>
                </a:r>
              </a:p>
              <a:p>
                <a:pPr marL="0" indent="0">
                  <a:buNone/>
                </a:pPr>
                <a:r>
                  <a:rPr lang="en-IN" dirty="0"/>
                  <a:t>12.             Soft-update target networks: theta' ← tau*theta + (1-tau)*theta'</a:t>
                </a:r>
              </a:p>
              <a:p>
                <a:pPr marL="0" indent="0">
                  <a:buNone/>
                </a:pPr>
                <a:r>
                  <a:rPr lang="en-IN" dirty="0"/>
                  <a:t>13.         End if</a:t>
                </a:r>
              </a:p>
              <a:p>
                <a:pPr marL="0" indent="0">
                  <a:buNone/>
                </a:pPr>
                <a:r>
                  <a:rPr lang="en-IN" dirty="0"/>
                  <a:t>14.     End if</a:t>
                </a:r>
              </a:p>
              <a:p>
                <a:pPr marL="0" indent="0">
                  <a:buNone/>
                </a:pPr>
                <a:r>
                  <a:rPr lang="en-IN" dirty="0"/>
                  <a:t>15. End for</a:t>
                </a:r>
              </a:p>
              <a:p>
                <a:pPr marL="0" indent="0">
                  <a:buNone/>
                </a:pPr>
                <a:r>
                  <a:rPr lang="en-IN" dirty="0"/>
                  <a:t>16. Return </a:t>
                </a:r>
                <a:r>
                  <a:rPr lang="en-IN" dirty="0" err="1"/>
                  <a:t>mu_theta</a:t>
                </a:r>
                <a:r>
                  <a:rPr lang="en-IN" dirty="0"/>
                  <a:t>*.</a:t>
                </a:r>
              </a:p>
              <a:p>
                <a:pPr marL="0" indent="0">
                  <a:buNone/>
                </a:pPr>
                <a:r>
                  <a:rPr lang="en-IN" dirty="0"/>
                  <a:t>The TD3 target value uses twin critics to mitigate Q-value overestimation: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 · 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=1,2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𝑡𝑎𝑟𝑔𝑒𝑡</m:t>
                          </m:r>
                        </m:sup>
                      </m:sSubSup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′, 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′) +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𝑐𝑙𝑖𝑝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𝒩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(0, 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), 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2DBC6F-F7C4-31B7-FCFC-D12E58F170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35811"/>
                <a:ext cx="10515600" cy="4351338"/>
              </a:xfrm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3272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1561C-7259-6BB2-9CE1-E2E05A19B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876" y="329938"/>
            <a:ext cx="10693924" cy="58470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Algorithm 6: ER-PPO — Entropy-Regulated Proximal Policy Optimization (Novel Contribution)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Require: Environment E, actor </a:t>
            </a:r>
            <a:r>
              <a:rPr lang="en-IN" sz="2400" dirty="0" err="1"/>
              <a:t>pi_theta</a:t>
            </a:r>
            <a:r>
              <a:rPr lang="en-IN" sz="2400" dirty="0"/>
              <a:t>, critic </a:t>
            </a:r>
            <a:r>
              <a:rPr lang="en-IN" sz="2400" dirty="0" err="1"/>
              <a:t>V_phi</a:t>
            </a:r>
            <a:r>
              <a:rPr lang="en-IN" sz="2400" dirty="0"/>
              <a:t>, total episodes N,</a:t>
            </a:r>
          </a:p>
          <a:p>
            <a:pPr marL="0" indent="0">
              <a:buNone/>
            </a:pPr>
            <a:r>
              <a:rPr lang="en-IN" sz="2400" dirty="0"/>
              <a:t>         </a:t>
            </a:r>
            <a:r>
              <a:rPr lang="en-IN" sz="2400" dirty="0" err="1"/>
              <a:t>alpha_start</a:t>
            </a:r>
            <a:r>
              <a:rPr lang="en-IN" sz="2400" dirty="0"/>
              <a:t> = 0.05, </a:t>
            </a:r>
            <a:r>
              <a:rPr lang="en-IN" sz="2400" dirty="0" err="1"/>
              <a:t>alpha_end</a:t>
            </a:r>
            <a:r>
              <a:rPr lang="en-IN" sz="2400" dirty="0"/>
              <a:t> = 0.001, clip eps = 0.2, gamma = 0.99</a:t>
            </a:r>
          </a:p>
          <a:p>
            <a:pPr marL="0" indent="0">
              <a:buNone/>
            </a:pPr>
            <a:r>
              <a:rPr lang="en-IN" sz="2400" dirty="0"/>
              <a:t>Ensure:  Trained adaptive policy </a:t>
            </a:r>
            <a:r>
              <a:rPr lang="en-IN" sz="2400" dirty="0" err="1"/>
              <a:t>pi_theta</a:t>
            </a:r>
            <a:r>
              <a:rPr lang="en-IN" sz="2400" dirty="0"/>
              <a:t>*</a:t>
            </a:r>
          </a:p>
          <a:p>
            <a:pPr marL="0" indent="0">
              <a:buNone/>
            </a:pPr>
            <a:r>
              <a:rPr lang="en-IN" sz="2400" dirty="0"/>
              <a:t>1.  Initialise theta and phi randomly.</a:t>
            </a:r>
          </a:p>
          <a:p>
            <a:pPr marL="0" indent="0">
              <a:buNone/>
            </a:pPr>
            <a:r>
              <a:rPr lang="en-IN" sz="2400" dirty="0"/>
              <a:t>2.  For each training episode </a:t>
            </a:r>
            <a:r>
              <a:rPr lang="en-IN" sz="2400" dirty="0" err="1"/>
              <a:t>i</a:t>
            </a:r>
            <a:r>
              <a:rPr lang="en-IN" sz="2400" dirty="0"/>
              <a:t> = 1 to N do</a:t>
            </a:r>
          </a:p>
          <a:p>
            <a:pPr marL="0" indent="0">
              <a:buNone/>
            </a:pPr>
            <a:r>
              <a:rPr lang="en-IN" sz="2400" dirty="0"/>
              <a:t>3.      Compute epoch-adaptive entropy coefficient: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alpha_i</a:t>
            </a:r>
            <a:r>
              <a:rPr lang="en-IN" sz="2400" dirty="0"/>
              <a:t> = </a:t>
            </a:r>
            <a:r>
              <a:rPr lang="en-IN" sz="2400" dirty="0" err="1"/>
              <a:t>alpha_start</a:t>
            </a:r>
            <a:r>
              <a:rPr lang="en-IN" sz="2400" dirty="0"/>
              <a:t> - (</a:t>
            </a:r>
            <a:r>
              <a:rPr lang="en-IN" sz="2400" dirty="0" err="1"/>
              <a:t>alpha_start</a:t>
            </a:r>
            <a:r>
              <a:rPr lang="en-IN" sz="2400" dirty="0"/>
              <a:t> - </a:t>
            </a:r>
            <a:r>
              <a:rPr lang="en-IN" sz="2400" dirty="0" err="1"/>
              <a:t>alpha_end</a:t>
            </a:r>
            <a:r>
              <a:rPr lang="en-IN" sz="2400" dirty="0"/>
              <a:t>) * (</a:t>
            </a:r>
            <a:r>
              <a:rPr lang="en-IN" sz="2400" dirty="0" err="1"/>
              <a:t>i</a:t>
            </a:r>
            <a:r>
              <a:rPr lang="en-IN" sz="2400" dirty="0"/>
              <a:t> / N)</a:t>
            </a:r>
          </a:p>
          <a:p>
            <a:pPr marL="0" indent="0">
              <a:buNone/>
            </a:pPr>
            <a:r>
              <a:rPr lang="en-IN" sz="2400" dirty="0"/>
              <a:t>4.      Reset E; observe s_0 = [BG, </a:t>
            </a:r>
            <a:r>
              <a:rPr lang="en-IN" sz="2400" dirty="0" err="1"/>
              <a:t>DeltaBG</a:t>
            </a:r>
            <a:r>
              <a:rPr lang="en-IN" sz="2400" dirty="0"/>
              <a:t>, IOB, COB].</a:t>
            </a:r>
          </a:p>
          <a:p>
            <a:pPr marL="0" indent="0">
              <a:buNone/>
            </a:pPr>
            <a:r>
              <a:rPr lang="en-IN" sz="2400" dirty="0"/>
              <a:t>5.      Collect trajectory tau = {</a:t>
            </a:r>
            <a:r>
              <a:rPr lang="en-IN" sz="2400" dirty="0" err="1"/>
              <a:t>s_t</a:t>
            </a:r>
            <a:r>
              <a:rPr lang="en-IN" sz="2400" dirty="0"/>
              <a:t>, </a:t>
            </a:r>
            <a:r>
              <a:rPr lang="en-IN" sz="2400" dirty="0" err="1"/>
              <a:t>a_t</a:t>
            </a:r>
            <a:r>
              <a:rPr lang="en-IN" sz="2400" dirty="0"/>
              <a:t>, </a:t>
            </a:r>
            <a:r>
              <a:rPr lang="en-IN" sz="2400" dirty="0" err="1"/>
              <a:t>r_t</a:t>
            </a:r>
            <a:r>
              <a:rPr lang="en-IN" sz="2400" dirty="0"/>
              <a:t>} for T = 1000 timesteps:</a:t>
            </a:r>
          </a:p>
          <a:p>
            <a:pPr marL="0" indent="0">
              <a:buNone/>
            </a:pPr>
            <a:r>
              <a:rPr lang="en-IN" sz="2400" dirty="0"/>
              <a:t>6.          Sample </a:t>
            </a:r>
            <a:r>
              <a:rPr lang="en-IN" sz="2400" dirty="0" err="1"/>
              <a:t>a_t</a:t>
            </a:r>
            <a:r>
              <a:rPr lang="en-IN" sz="2400" dirty="0"/>
              <a:t> ~ </a:t>
            </a:r>
            <a:r>
              <a:rPr lang="en-IN" sz="2400" dirty="0" err="1"/>
              <a:t>pi_theta</a:t>
            </a:r>
            <a:r>
              <a:rPr lang="en-IN" sz="2400" dirty="0"/>
              <a:t>(.|</a:t>
            </a:r>
            <a:r>
              <a:rPr lang="en-IN" sz="2400" dirty="0" err="1"/>
              <a:t>s_t</a:t>
            </a:r>
            <a:r>
              <a:rPr lang="en-IN" sz="2400" dirty="0"/>
              <a:t>),  </a:t>
            </a:r>
            <a:r>
              <a:rPr lang="en-IN" sz="2400" dirty="0" err="1"/>
              <a:t>a_t</a:t>
            </a:r>
            <a:r>
              <a:rPr lang="en-IN" sz="2400" dirty="0"/>
              <a:t> in [0, 0.2] U.</a:t>
            </a:r>
          </a:p>
          <a:p>
            <a:pPr marL="0" indent="0">
              <a:buNone/>
            </a:pPr>
            <a:r>
              <a:rPr lang="en-IN" sz="2400" dirty="0"/>
              <a:t>7.          Apply </a:t>
            </a:r>
            <a:r>
              <a:rPr lang="en-IN" sz="2400" dirty="0" err="1"/>
              <a:t>a_t</a:t>
            </a:r>
            <a:r>
              <a:rPr lang="en-IN" sz="2400" dirty="0"/>
              <a:t>; receive </a:t>
            </a:r>
            <a:r>
              <a:rPr lang="en-IN" sz="2400" dirty="0" err="1"/>
              <a:t>r_t</a:t>
            </a:r>
            <a:r>
              <a:rPr lang="en-IN" sz="2400" dirty="0"/>
              <a:t> and s_{t+1}.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07693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E0A59-3443-7372-2162-61FA67140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652" y="407709"/>
            <a:ext cx="11152695" cy="60425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8.          Compute reward:</a:t>
            </a:r>
          </a:p>
          <a:p>
            <a:pPr marL="0" indent="0">
              <a:buNone/>
            </a:pPr>
            <a:r>
              <a:rPr lang="en-IN" sz="2400" dirty="0"/>
              <a:t>            if 70 ≤ BG ≤ 180:        </a:t>
            </a:r>
            <a:r>
              <a:rPr lang="en-IN" sz="2400" dirty="0" err="1"/>
              <a:t>r_t</a:t>
            </a:r>
            <a:r>
              <a:rPr lang="en-IN" sz="2400" dirty="0"/>
              <a:t> = +1.0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elif</a:t>
            </a:r>
            <a:r>
              <a:rPr lang="en-IN" sz="2400" dirty="0"/>
              <a:t> mild deviation:       </a:t>
            </a:r>
            <a:r>
              <a:rPr lang="en-IN" sz="2400" dirty="0" err="1"/>
              <a:t>r_t</a:t>
            </a:r>
            <a:r>
              <a:rPr lang="en-IN" sz="2400" dirty="0"/>
              <a:t> = -0.5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elif</a:t>
            </a:r>
            <a:r>
              <a:rPr lang="en-IN" sz="2400" dirty="0"/>
              <a:t> dangerous excursion:  </a:t>
            </a:r>
            <a:r>
              <a:rPr lang="en-IN" sz="2400" dirty="0" err="1"/>
              <a:t>r_t</a:t>
            </a:r>
            <a:r>
              <a:rPr lang="en-IN" sz="2400" dirty="0"/>
              <a:t> = -2.0 - lambda*|</a:t>
            </a:r>
            <a:r>
              <a:rPr lang="en-IN" sz="2400" dirty="0" err="1"/>
              <a:t>Delta_a</a:t>
            </a:r>
            <a:r>
              <a:rPr lang="en-IN" sz="2400" dirty="0"/>
              <a:t>|</a:t>
            </a:r>
          </a:p>
          <a:p>
            <a:pPr marL="0" indent="0">
              <a:buNone/>
            </a:pPr>
            <a:r>
              <a:rPr lang="en-IN" sz="2400" dirty="0"/>
              <a:t>9.      Compute returns </a:t>
            </a:r>
            <a:r>
              <a:rPr lang="en-IN" sz="2400" dirty="0" err="1"/>
              <a:t>R_t</a:t>
            </a:r>
            <a:r>
              <a:rPr lang="en-IN" sz="2400" dirty="0"/>
              <a:t> and GAE advantages </a:t>
            </a:r>
            <a:r>
              <a:rPr lang="en-IN" sz="2400" dirty="0" err="1"/>
              <a:t>A_hat_t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r>
              <a:rPr lang="en-IN" sz="2400" dirty="0"/>
              <a:t>10.     For each PPO update epoch k = 1 to K do</a:t>
            </a:r>
          </a:p>
          <a:p>
            <a:pPr marL="0" indent="0">
              <a:buNone/>
            </a:pPr>
            <a:r>
              <a:rPr lang="en-IN" sz="2400" dirty="0"/>
              <a:t>11.         For each mini-batch from tau do</a:t>
            </a:r>
          </a:p>
          <a:p>
            <a:pPr marL="0" indent="0">
              <a:buNone/>
            </a:pPr>
            <a:r>
              <a:rPr lang="en-IN" sz="2400" dirty="0"/>
              <a:t>12.             rho  ← </a:t>
            </a:r>
            <a:r>
              <a:rPr lang="en-IN" sz="2400" dirty="0" err="1"/>
              <a:t>pi_theta</a:t>
            </a:r>
            <a:r>
              <a:rPr lang="en-IN" sz="2400" dirty="0"/>
              <a:t>(</a:t>
            </a:r>
            <a:r>
              <a:rPr lang="en-IN" sz="2400" dirty="0" err="1"/>
              <a:t>a|s</a:t>
            </a:r>
            <a:r>
              <a:rPr lang="en-IN" sz="2400" dirty="0"/>
              <a:t>) / </a:t>
            </a:r>
            <a:r>
              <a:rPr lang="en-IN" sz="2400" dirty="0" err="1"/>
              <a:t>pi_theta_old</a:t>
            </a:r>
            <a:r>
              <a:rPr lang="en-IN" sz="2400" dirty="0"/>
              <a:t>(</a:t>
            </a:r>
            <a:r>
              <a:rPr lang="en-IN" sz="2400" dirty="0" err="1"/>
              <a:t>a|s</a:t>
            </a:r>
            <a:r>
              <a:rPr lang="en-IN" sz="2400" dirty="0"/>
              <a:t>)</a:t>
            </a:r>
          </a:p>
          <a:p>
            <a:pPr marL="0" indent="0">
              <a:buNone/>
            </a:pPr>
            <a:r>
              <a:rPr lang="en-IN" sz="2400" dirty="0"/>
              <a:t>13.             L_CLIP ← min(rho*</a:t>
            </a:r>
            <a:r>
              <a:rPr lang="en-IN" sz="2400" dirty="0" err="1"/>
              <a:t>A_hat</a:t>
            </a:r>
            <a:r>
              <a:rPr lang="en-IN" sz="2400" dirty="0"/>
              <a:t>, clip(rho, 1-eps, 1+eps)*</a:t>
            </a:r>
            <a:r>
              <a:rPr lang="en-IN" sz="2400" dirty="0" err="1"/>
              <a:t>A_hat</a:t>
            </a:r>
            <a:r>
              <a:rPr lang="en-IN" sz="2400" dirty="0"/>
              <a:t>)</a:t>
            </a:r>
          </a:p>
          <a:p>
            <a:pPr marL="0" indent="0">
              <a:buNone/>
            </a:pPr>
            <a:r>
              <a:rPr lang="en-IN" sz="2400" dirty="0"/>
              <a:t>14.             L_V    ← (</a:t>
            </a:r>
            <a:r>
              <a:rPr lang="en-IN" sz="2400" dirty="0" err="1"/>
              <a:t>V_phi</a:t>
            </a:r>
            <a:r>
              <a:rPr lang="en-IN" sz="2400" dirty="0"/>
              <a:t>(s) - R)^2</a:t>
            </a:r>
          </a:p>
          <a:p>
            <a:pPr marL="0" indent="0">
              <a:buNone/>
            </a:pPr>
            <a:r>
              <a:rPr lang="en-IN" sz="2400" dirty="0"/>
              <a:t>15.             L_H    ← -</a:t>
            </a:r>
            <a:r>
              <a:rPr lang="en-IN" sz="2400" dirty="0" err="1"/>
              <a:t>alpha_i</a:t>
            </a:r>
            <a:r>
              <a:rPr lang="en-IN" sz="2400" dirty="0"/>
              <a:t> * H(</a:t>
            </a:r>
            <a:r>
              <a:rPr lang="en-IN" sz="2400" dirty="0" err="1"/>
              <a:t>pi_theta</a:t>
            </a:r>
            <a:r>
              <a:rPr lang="en-IN" sz="2400" dirty="0"/>
              <a:t>(.|s))   {adaptive entropy}</a:t>
            </a:r>
          </a:p>
          <a:p>
            <a:pPr marL="0" indent="0">
              <a:buNone/>
            </a:pPr>
            <a:r>
              <a:rPr lang="en-IN" sz="2400" dirty="0"/>
              <a:t>16.             </a:t>
            </a:r>
            <a:r>
              <a:rPr lang="en-IN" sz="2400" dirty="0" err="1"/>
              <a:t>L_total</a:t>
            </a:r>
            <a:r>
              <a:rPr lang="en-IN" sz="2400" dirty="0"/>
              <a:t> ← -L_CLIP + c*L_V + L_H</a:t>
            </a:r>
          </a:p>
        </p:txBody>
      </p:sp>
    </p:spTree>
    <p:extLst>
      <p:ext uri="{BB962C8B-B14F-4D97-AF65-F5344CB8AC3E}">
        <p14:creationId xmlns:p14="http://schemas.microsoft.com/office/powerpoint/2010/main" val="2599048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ABB3A-C06E-6544-CEA5-89ED087C9E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8517" y="845237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17.             Update theta and phi by gradient descent on </a:t>
                </a:r>
                <a:r>
                  <a:rPr lang="en-IN" sz="2400" dirty="0" err="1"/>
                  <a:t>L_total</a:t>
                </a:r>
                <a:r>
                  <a:rPr lang="en-IN" sz="2400" dirty="0"/>
                  <a:t>.</a:t>
                </a:r>
              </a:p>
              <a:p>
                <a:pPr marL="0" indent="0">
                  <a:buNone/>
                </a:pPr>
                <a:r>
                  <a:rPr lang="en-IN" sz="2400" dirty="0"/>
                  <a:t>18.         End for</a:t>
                </a:r>
              </a:p>
              <a:p>
                <a:pPr marL="0" indent="0">
                  <a:buNone/>
                </a:pPr>
                <a:r>
                  <a:rPr lang="en-IN" sz="2400" dirty="0"/>
                  <a:t>19.     End for</a:t>
                </a:r>
              </a:p>
              <a:p>
                <a:pPr marL="0" indent="0">
                  <a:buNone/>
                </a:pPr>
                <a:r>
                  <a:rPr lang="en-IN" sz="2400" dirty="0"/>
                  <a:t>20. End for</a:t>
                </a:r>
              </a:p>
              <a:p>
                <a:pPr marL="0" indent="0">
                  <a:buNone/>
                </a:pPr>
                <a:r>
                  <a:rPr lang="en-IN" sz="2400" dirty="0"/>
                  <a:t>21. Return </a:t>
                </a:r>
                <a:r>
                  <a:rPr lang="en-IN" sz="2400" dirty="0" err="1"/>
                  <a:t>pi_theta</a:t>
                </a:r>
                <a:r>
                  <a:rPr lang="en-IN" sz="2400" dirty="0"/>
                  <a:t>*.</a:t>
                </a:r>
              </a:p>
              <a:p>
                <a:pPr marL="0" indent="0">
                  <a:buNone/>
                </a:pPr>
                <a:r>
                  <a:rPr lang="en-IN" sz="2400" dirty="0"/>
                  <a:t>The key innovation of ER-PPO is the epoch-adaptive entropy coefficient. The total training objective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𝐸𝑅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𝑃𝑃𝑂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) = −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𝐶𝐿𝐼𝑃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) + 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</a:rPr>
                        <m:t> · 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) − 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𝑠𝑡𝑎𝑟𝑡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</a:rPr>
                        <m:t> − 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𝑠𝑡𝑎𝑟𝑡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𝑒𝑛𝑑</m:t>
                              </m:r>
                            </m:sub>
                          </m:sSub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</a:rPr>
                        <m:t> · 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IN" sz="2400" dirty="0"/>
              </a:p>
              <a:p>
                <a:endParaRPr lang="en-IN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ABB3A-C06E-6544-CEA5-89ED087C9E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8517" y="845237"/>
                <a:ext cx="10515600" cy="4351338"/>
              </a:xfrm>
              <a:blipFill>
                <a:blip r:embed="rId2"/>
                <a:stretch>
                  <a:fillRect l="-928" b="-12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6477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FC57-63D0-5CA0-F400-D2C92698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PPO – Proximal Policy Optimization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D4C38-C99D-1ED1-0014-892082E91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20051"/>
          </a:xfrm>
        </p:spPr>
        <p:txBody>
          <a:bodyPr>
            <a:normAutofit lnSpcReduction="10000"/>
          </a:bodyPr>
          <a:lstStyle/>
          <a:p>
            <a:r>
              <a:rPr lang="en-IN" sz="2400" b="1" dirty="0"/>
              <a:t>Input (State):</a:t>
            </a:r>
            <a:r>
              <a:rPr lang="en-IN" sz="2400" dirty="0"/>
              <a:t> CGM glucose levels, meal intake, recent insulin doses.</a:t>
            </a:r>
          </a:p>
          <a:p>
            <a:r>
              <a:rPr lang="en-IN" sz="2400" b="1" dirty="0"/>
              <a:t>Actor Network:</a:t>
            </a:r>
            <a:r>
              <a:rPr lang="en-IN" sz="2400" dirty="0"/>
              <a:t> Chooses insulin dose (action) for the current state.</a:t>
            </a:r>
          </a:p>
          <a:p>
            <a:r>
              <a:rPr lang="en-IN" sz="2400" b="1" dirty="0"/>
              <a:t>Environment:</a:t>
            </a:r>
            <a:r>
              <a:rPr lang="en-IN" sz="2400" dirty="0"/>
              <a:t> Simulated patient (UVA/Padova simulator) responds with new glucose levels.</a:t>
            </a:r>
          </a:p>
          <a:p>
            <a:r>
              <a:rPr lang="en-IN" sz="2400" b="1" dirty="0"/>
              <a:t>Reward Function:</a:t>
            </a:r>
            <a:endParaRPr lang="en-IN" sz="2400" dirty="0"/>
          </a:p>
          <a:p>
            <a:pPr lvl="1"/>
            <a:r>
              <a:rPr lang="en-IN" dirty="0"/>
              <a:t>Reward if glucose stays within 70–180 mg/dL.</a:t>
            </a:r>
          </a:p>
          <a:p>
            <a:pPr lvl="1"/>
            <a:r>
              <a:rPr lang="en-IN" dirty="0"/>
              <a:t>Penalty if </a:t>
            </a:r>
            <a:r>
              <a:rPr lang="en-IN" dirty="0" err="1"/>
              <a:t>hypoglycemia</a:t>
            </a:r>
            <a:r>
              <a:rPr lang="en-IN" dirty="0"/>
              <a:t> (&lt;70) or </a:t>
            </a:r>
            <a:r>
              <a:rPr lang="en-IN" dirty="0" err="1"/>
              <a:t>hyperglycemia</a:t>
            </a:r>
            <a:r>
              <a:rPr lang="en-IN" dirty="0"/>
              <a:t> (&gt;180).</a:t>
            </a:r>
          </a:p>
          <a:p>
            <a:pPr lvl="1"/>
            <a:r>
              <a:rPr lang="en-IN" dirty="0"/>
              <a:t>Penalty for unnecessary insulin usage.</a:t>
            </a:r>
          </a:p>
          <a:p>
            <a:r>
              <a:rPr lang="en-IN" sz="2400" b="1" dirty="0"/>
              <a:t>Critic Network:</a:t>
            </a:r>
            <a:r>
              <a:rPr lang="en-IN" sz="2400" dirty="0"/>
              <a:t> Evaluates how good the chosen action was (value function).</a:t>
            </a:r>
          </a:p>
          <a:p>
            <a:r>
              <a:rPr lang="en-IN" sz="2400" b="1" dirty="0"/>
              <a:t>Update Step:</a:t>
            </a:r>
            <a:r>
              <a:rPr lang="en-IN" sz="2400" dirty="0"/>
              <a:t> PPO optimizes the policy while preventing large, unstable updates.</a:t>
            </a:r>
          </a:p>
          <a:p>
            <a:r>
              <a:rPr lang="en-IN" sz="2400" b="1" dirty="0"/>
              <a:t>Key Advantage:</a:t>
            </a:r>
            <a:r>
              <a:rPr lang="en-IN" sz="2400" dirty="0"/>
              <a:t> PPO balances </a:t>
            </a:r>
            <a:r>
              <a:rPr lang="en-IN" sz="2400" b="1" dirty="0"/>
              <a:t>exploration vs. safety</a:t>
            </a:r>
            <a:r>
              <a:rPr lang="en-IN" sz="2400" dirty="0"/>
              <a:t>, making it well-suited for sensitive domains like insulin dosing.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E6519-CEC0-8CB8-8563-83C17E527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28" y="261495"/>
            <a:ext cx="11593543" cy="63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811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CF96D-1824-8357-80A6-944834923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9B572-3E0A-697F-66DE-3C762FE38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ER-PPO – Entropy-Regulated Proximal Policy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2F457-1DF3-51C8-2F91-6CE2C0B88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20051"/>
          </a:xfrm>
        </p:spPr>
        <p:txBody>
          <a:bodyPr>
            <a:normAutofit fontScale="92500" lnSpcReduction="20000"/>
          </a:bodyPr>
          <a:lstStyle/>
          <a:p>
            <a:r>
              <a:rPr lang="en-IN" sz="2400" b="1" dirty="0"/>
              <a:t>Input (State):</a:t>
            </a:r>
            <a:r>
              <a:rPr lang="en-IN" sz="2400" dirty="0"/>
              <a:t> CGM glucose levels, meal intake, recent insulin doses.</a:t>
            </a:r>
          </a:p>
          <a:p>
            <a:r>
              <a:rPr lang="en-IN" sz="2400" b="1" dirty="0"/>
              <a:t>Actor Network:</a:t>
            </a:r>
            <a:r>
              <a:rPr lang="en-IN" sz="2400" dirty="0"/>
              <a:t> Suggests insulin dose (stochastic policy).</a:t>
            </a:r>
          </a:p>
          <a:p>
            <a:r>
              <a:rPr lang="en-IN" sz="2400" b="1" dirty="0"/>
              <a:t>Environment:</a:t>
            </a:r>
            <a:r>
              <a:rPr lang="en-IN" sz="2400" dirty="0"/>
              <a:t> Simulated patient (UVA/Padova simulator) generates next glucose state.</a:t>
            </a:r>
          </a:p>
          <a:p>
            <a:r>
              <a:rPr lang="en-IN" sz="2400" b="1" dirty="0"/>
              <a:t>Reward Function:</a:t>
            </a:r>
            <a:br>
              <a:rPr lang="en-IN" sz="2400" dirty="0"/>
            </a:br>
            <a:r>
              <a:rPr lang="en-IN" sz="2400" dirty="0"/>
              <a:t>Reward for maintaining glucose within 70–180 mg/dL.</a:t>
            </a:r>
            <a:br>
              <a:rPr lang="en-IN" sz="2400" dirty="0"/>
            </a:br>
            <a:r>
              <a:rPr lang="en-IN" sz="2400" dirty="0"/>
              <a:t>Penalty for hypo/</a:t>
            </a:r>
            <a:r>
              <a:rPr lang="en-IN" sz="2400" dirty="0" err="1"/>
              <a:t>hyperglycemia</a:t>
            </a:r>
            <a:r>
              <a:rPr lang="en-IN" sz="2400" dirty="0"/>
              <a:t>.</a:t>
            </a:r>
            <a:br>
              <a:rPr lang="en-IN" sz="2400" dirty="0"/>
            </a:br>
            <a:r>
              <a:rPr lang="en-IN" sz="2400" dirty="0"/>
              <a:t>Penalty for unstable insulin dosing.</a:t>
            </a:r>
          </a:p>
          <a:p>
            <a:r>
              <a:rPr lang="en-IN" sz="2400" b="1" dirty="0"/>
              <a:t>Critic Network:</a:t>
            </a:r>
            <a:r>
              <a:rPr lang="en-IN" sz="2400" dirty="0"/>
              <a:t> Evaluates value of chosen action.</a:t>
            </a:r>
          </a:p>
          <a:p>
            <a:r>
              <a:rPr lang="en-IN" sz="2400" b="1" dirty="0"/>
              <a:t>Entropy Regulation:</a:t>
            </a:r>
            <a:br>
              <a:rPr lang="en-IN" sz="2400" dirty="0"/>
            </a:br>
            <a:r>
              <a:rPr lang="en-IN" sz="2400" dirty="0"/>
              <a:t>Dynamically adjusts entropy coefficient during training to balance exploration and safety.</a:t>
            </a:r>
          </a:p>
          <a:p>
            <a:r>
              <a:rPr lang="en-IN" sz="2400" b="1" dirty="0"/>
              <a:t>Update Step:</a:t>
            </a:r>
            <a:br>
              <a:rPr lang="en-IN" sz="2400" dirty="0"/>
            </a:br>
            <a:r>
              <a:rPr lang="en-IN" sz="2400" dirty="0"/>
              <a:t>Uses PPO clipped objective with adaptive entropy tuning.</a:t>
            </a:r>
          </a:p>
          <a:p>
            <a:r>
              <a:rPr lang="en-IN" sz="2400" b="1" dirty="0"/>
              <a:t>Key Advantage:</a:t>
            </a:r>
            <a:br>
              <a:rPr lang="en-IN" sz="2400" dirty="0"/>
            </a:br>
            <a:r>
              <a:rPr lang="en-IN" sz="2400" dirty="0"/>
              <a:t>Improved exploration–exploitation balance, better robustness across patient variability.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76155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073E2-4A92-06D8-3631-4A5AEEA83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A0724-E6B0-14A7-0060-C73A92B1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TD3 – Twin Delayed Deep Deterministic Policy Gradient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C237F-0382-D852-8399-84EBFEC28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20051"/>
          </a:xfrm>
        </p:spPr>
        <p:txBody>
          <a:bodyPr>
            <a:normAutofit fontScale="70000" lnSpcReduction="20000"/>
          </a:bodyPr>
          <a:lstStyle/>
          <a:p>
            <a:r>
              <a:rPr lang="en-IN" sz="2400" b="1" dirty="0"/>
              <a:t>Input (State):</a:t>
            </a:r>
            <a:r>
              <a:rPr lang="en-IN" sz="2400" dirty="0"/>
              <a:t> CGM glucose levels, meal intake, recent insulin doses.</a:t>
            </a:r>
          </a:p>
          <a:p>
            <a:pPr>
              <a:lnSpc>
                <a:spcPct val="110000"/>
              </a:lnSpc>
            </a:pPr>
            <a:r>
              <a:rPr lang="en-IN" sz="2400" b="1" dirty="0"/>
              <a:t>Actor Network:</a:t>
            </a:r>
            <a:r>
              <a:rPr lang="en-IN" sz="2400" dirty="0"/>
              <a:t> Outputs a deterministic insulin dose for the current state.</a:t>
            </a:r>
          </a:p>
          <a:p>
            <a:pPr>
              <a:lnSpc>
                <a:spcPct val="110000"/>
              </a:lnSpc>
            </a:pPr>
            <a:r>
              <a:rPr lang="en-IN" sz="2400" b="1" dirty="0"/>
              <a:t>Environment:</a:t>
            </a:r>
            <a:r>
              <a:rPr lang="en-IN" sz="2400" dirty="0"/>
              <a:t> Simulated patient (UVA/Padova simulator) responds with updated glucose levels.</a:t>
            </a:r>
          </a:p>
          <a:p>
            <a:pPr>
              <a:lnSpc>
                <a:spcPct val="110000"/>
              </a:lnSpc>
            </a:pPr>
            <a:r>
              <a:rPr lang="en-IN" sz="2400" b="1" dirty="0"/>
              <a:t>Reward Function:</a:t>
            </a:r>
            <a:br>
              <a:rPr lang="en-IN" sz="2400" dirty="0"/>
            </a:br>
            <a:r>
              <a:rPr lang="en-IN" sz="2400" dirty="0"/>
              <a:t>Reward if glucose stays within 70–180 mg/dL.</a:t>
            </a:r>
            <a:br>
              <a:rPr lang="en-IN" sz="2400" dirty="0"/>
            </a:br>
            <a:r>
              <a:rPr lang="en-IN" sz="2400" dirty="0"/>
              <a:t>Penalty if </a:t>
            </a:r>
            <a:r>
              <a:rPr lang="en-IN" sz="2400" dirty="0" err="1"/>
              <a:t>hypoglycemia</a:t>
            </a:r>
            <a:r>
              <a:rPr lang="en-IN" sz="2400" dirty="0"/>
              <a:t> (&lt;70) or </a:t>
            </a:r>
            <a:r>
              <a:rPr lang="en-IN" sz="2400" dirty="0" err="1"/>
              <a:t>hyperglycemia</a:t>
            </a:r>
            <a:r>
              <a:rPr lang="en-IN" sz="2400" dirty="0"/>
              <a:t> (&gt;180).</a:t>
            </a:r>
            <a:br>
              <a:rPr lang="en-IN" sz="2400" dirty="0"/>
            </a:br>
            <a:r>
              <a:rPr lang="en-IN" sz="2400" dirty="0"/>
              <a:t>Penalty for excessive insulin usage.</a:t>
            </a:r>
          </a:p>
          <a:p>
            <a:pPr>
              <a:lnSpc>
                <a:spcPct val="110000"/>
              </a:lnSpc>
            </a:pPr>
            <a:r>
              <a:rPr lang="en-IN" sz="2400" b="1" dirty="0"/>
              <a:t>Critic Networks (Twin Q-Networks):</a:t>
            </a:r>
            <a:br>
              <a:rPr lang="en-IN" sz="2400" dirty="0"/>
            </a:br>
            <a:r>
              <a:rPr lang="en-IN" sz="2400" dirty="0"/>
              <a:t>Two value networks estimate action quality to reduce overestimation bias.</a:t>
            </a:r>
          </a:p>
          <a:p>
            <a:pPr>
              <a:lnSpc>
                <a:spcPct val="110000"/>
              </a:lnSpc>
            </a:pPr>
            <a:r>
              <a:rPr lang="en-IN" sz="2400" b="1" dirty="0"/>
              <a:t>Replay Buffer:</a:t>
            </a:r>
            <a:br>
              <a:rPr lang="en-IN" sz="2400" dirty="0"/>
            </a:br>
            <a:r>
              <a:rPr lang="en-IN" sz="2400" dirty="0"/>
              <a:t>Stores past experiences and reuses them for efficient learning (off-policy).</a:t>
            </a:r>
          </a:p>
          <a:p>
            <a:pPr>
              <a:lnSpc>
                <a:spcPct val="110000"/>
              </a:lnSpc>
            </a:pPr>
            <a:r>
              <a:rPr lang="en-IN" sz="2400" b="1" dirty="0"/>
              <a:t>Delayed Update Step:</a:t>
            </a:r>
            <a:br>
              <a:rPr lang="en-IN" sz="2400" dirty="0"/>
            </a:br>
            <a:r>
              <a:rPr lang="en-IN" sz="2400" dirty="0"/>
              <a:t>Actor updates less frequently than critics to improve stability.</a:t>
            </a:r>
          </a:p>
          <a:p>
            <a:pPr>
              <a:lnSpc>
                <a:spcPct val="110000"/>
              </a:lnSpc>
            </a:pPr>
            <a:r>
              <a:rPr lang="en-IN" sz="2400" b="1" dirty="0"/>
              <a:t>Key Advantage:</a:t>
            </a:r>
            <a:br>
              <a:rPr lang="en-IN" sz="2400" dirty="0"/>
            </a:br>
            <a:r>
              <a:rPr lang="en-IN" sz="2400" dirty="0"/>
              <a:t>High sample efficiency and stable continuous control, suitable for precise insulin regulation</a:t>
            </a:r>
          </a:p>
        </p:txBody>
      </p:sp>
    </p:spTree>
    <p:extLst>
      <p:ext uri="{BB962C8B-B14F-4D97-AF65-F5344CB8AC3E}">
        <p14:creationId xmlns:p14="http://schemas.microsoft.com/office/powerpoint/2010/main" val="1852245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6207E-02F9-0EC6-975F-3312B1B80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Architecture Diagram</a:t>
            </a:r>
            <a:endParaRPr lang="en-IN" dirty="0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FE8C9378-35FC-3ACD-4054-C4B44905BD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956" y="1240722"/>
            <a:ext cx="5406887" cy="50951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98C10A-4E63-7B4B-3F9A-A245851FA0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556" y="1240722"/>
            <a:ext cx="5532437" cy="553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74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38FCE-B050-6A12-2A6C-CBF2EF5BA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EEDA8-0B30-A6D2-8AAB-3B1C3D649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Architecture Diagram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3C5D10-555D-DA4F-EB19-D07FF5361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34" y="1316136"/>
            <a:ext cx="5245231" cy="52452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2F79D63-3DD8-A8F3-1544-72335CB1174F}"/>
              </a:ext>
            </a:extLst>
          </p:cNvPr>
          <p:cNvSpPr/>
          <p:nvPr/>
        </p:nvSpPr>
        <p:spPr>
          <a:xfrm>
            <a:off x="6333744" y="5870448"/>
            <a:ext cx="158496" cy="1402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620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5C843-A9C0-1E2A-AA4C-D39BCF6DE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359" y="-17910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Results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A114E48-3E4D-6685-106F-1382FA182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8" r="17908"/>
          <a:stretch>
            <a:fillRect/>
          </a:stretch>
        </p:blipFill>
        <p:spPr>
          <a:xfrm>
            <a:off x="103883" y="1055802"/>
            <a:ext cx="5514680" cy="556422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B40C92-F9FC-EDF4-EDFA-B097A05793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101" r="37191"/>
          <a:stretch>
            <a:fillRect/>
          </a:stretch>
        </p:blipFill>
        <p:spPr>
          <a:xfrm>
            <a:off x="6654538" y="1442302"/>
            <a:ext cx="4687079" cy="273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113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EC9F-07A2-6F9F-953B-C4EBAC01C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609F62-99A6-88E9-457F-19712A75D0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45" y="713389"/>
            <a:ext cx="11603309" cy="5469953"/>
          </a:xfrm>
        </p:spPr>
      </p:pic>
    </p:spTree>
    <p:extLst>
      <p:ext uri="{BB962C8B-B14F-4D97-AF65-F5344CB8AC3E}">
        <p14:creationId xmlns:p14="http://schemas.microsoft.com/office/powerpoint/2010/main" val="26617544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617F51C-E366-3686-1C73-55491B7B9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738"/>
          <a:stretch>
            <a:fillRect/>
          </a:stretch>
        </p:blipFill>
        <p:spPr>
          <a:xfrm>
            <a:off x="1533076" y="1401266"/>
            <a:ext cx="9125848" cy="345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97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3D239-BA03-2131-7584-F8703F7D7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D9B28B-E13D-EC17-31C9-A49A3881D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61" y="270859"/>
            <a:ext cx="11791277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85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D0F6E-C41E-6FCB-D591-3D40EC15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E7ADD6-E7B1-3EFE-A5DE-6C34916700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13"/>
          <a:stretch>
            <a:fillRect/>
          </a:stretch>
        </p:blipFill>
        <p:spPr>
          <a:xfrm>
            <a:off x="1473889" y="1709542"/>
            <a:ext cx="9244221" cy="309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634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EC92AF-F47D-A975-57B3-02B089CCA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0" b="5880"/>
          <a:stretch>
            <a:fillRect/>
          </a:stretch>
        </p:blipFill>
        <p:spPr>
          <a:xfrm>
            <a:off x="0" y="763928"/>
            <a:ext cx="11942316" cy="508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5104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80DF001-598B-F671-A7EF-4F93FB87E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332873"/>
              </p:ext>
            </p:extLst>
          </p:nvPr>
        </p:nvGraphicFramePr>
        <p:xfrm>
          <a:off x="1008450" y="914400"/>
          <a:ext cx="10175100" cy="5586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775">
                  <a:extLst>
                    <a:ext uri="{9D8B030D-6E8A-4147-A177-3AD203B41FA5}">
                      <a16:colId xmlns:a16="http://schemas.microsoft.com/office/drawing/2014/main" val="2623780891"/>
                    </a:ext>
                  </a:extLst>
                </a:gridCol>
                <a:gridCol w="2543775">
                  <a:extLst>
                    <a:ext uri="{9D8B030D-6E8A-4147-A177-3AD203B41FA5}">
                      <a16:colId xmlns:a16="http://schemas.microsoft.com/office/drawing/2014/main" val="546041316"/>
                    </a:ext>
                  </a:extLst>
                </a:gridCol>
                <a:gridCol w="2543775">
                  <a:extLst>
                    <a:ext uri="{9D8B030D-6E8A-4147-A177-3AD203B41FA5}">
                      <a16:colId xmlns:a16="http://schemas.microsoft.com/office/drawing/2014/main" val="1427435097"/>
                    </a:ext>
                  </a:extLst>
                </a:gridCol>
                <a:gridCol w="2543775">
                  <a:extLst>
                    <a:ext uri="{9D8B030D-6E8A-4147-A177-3AD203B41FA5}">
                      <a16:colId xmlns:a16="http://schemas.microsoft.com/office/drawing/2014/main" val="639502957"/>
                    </a:ext>
                  </a:extLst>
                </a:gridCol>
              </a:tblGrid>
              <a:tr h="731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</a:rPr>
                        <a:t>Metric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PPO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TD3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</a:rPr>
                        <a:t>ER-PPO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8671254"/>
                  </a:ext>
                </a:extLst>
              </a:tr>
              <a:tr h="6487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Time-in-Range (70–180 mg/dL)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65.36%</a:t>
                      </a:r>
                      <a:endParaRPr lang="en-IN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64.30%</a:t>
                      </a:r>
                      <a:endParaRPr lang="en-IN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81.60%</a:t>
                      </a:r>
                      <a:endParaRPr lang="en-IN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2613262787"/>
                  </a:ext>
                </a:extLst>
              </a:tr>
              <a:tr h="6487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 err="1">
                          <a:solidFill>
                            <a:schemeClr val="tx1"/>
                          </a:solidFill>
                          <a:effectLst/>
                        </a:rPr>
                        <a:t>Hypoglycemia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 Rate (&lt;70 mg/dL)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14.84%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35.70%</a:t>
                      </a:r>
                      <a:endParaRPr lang="en-IN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1.50%</a:t>
                      </a:r>
                      <a:endParaRPr lang="en-IN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2707262148"/>
                  </a:ext>
                </a:extLst>
              </a:tr>
              <a:tr h="6487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 err="1">
                          <a:solidFill>
                            <a:schemeClr val="tx1"/>
                          </a:solidFill>
                          <a:effectLst/>
                        </a:rPr>
                        <a:t>Hyperglycemia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 Rate (&gt;180 mg/dL)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19.79%</a:t>
                      </a:r>
                      <a:endParaRPr lang="en-IN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0.00%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16.90%</a:t>
                      </a:r>
                      <a:endParaRPr lang="en-IN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614778207"/>
                  </a:ext>
                </a:extLst>
              </a:tr>
              <a:tr h="6487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Mean Glucose (mg/dL)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130.55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97.74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140.25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3198395798"/>
                  </a:ext>
                </a:extLst>
              </a:tr>
              <a:tr h="6487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Glucose Variability (Std Dev)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54.03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</a:rPr>
                        <a:t>~28.00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~35.00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3573510812"/>
                  </a:ext>
                </a:extLst>
              </a:tr>
              <a:tr h="6487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Total Insulin Administered (U)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4.09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14,008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30.67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47968548"/>
                  </a:ext>
                </a:extLst>
              </a:tr>
              <a:tr h="6487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Algorithm Type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</a:rPr>
                        <a:t>On-policy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</a:rPr>
                        <a:t>Off-policy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On-policy + Adaptive Entropy</a:t>
                      </a: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325295145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5E8821A-23E5-96B8-D8D2-445405396BCA}"/>
              </a:ext>
            </a:extLst>
          </p:cNvPr>
          <p:cNvSpPr txBox="1"/>
          <p:nvPr/>
        </p:nvSpPr>
        <p:spPr>
          <a:xfrm>
            <a:off x="1504709" y="144959"/>
            <a:ext cx="89588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Result analysis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5048822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C28A4-8B54-5A8B-07B8-C005C47E7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860" y="578733"/>
            <a:ext cx="11192719" cy="59146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PPO achieved 65.36% TIR but suffered 14.84% hypoglycemia due to fixed entropy limiting late-stage exploration.</a:t>
            </a:r>
          </a:p>
          <a:p>
            <a:endParaRPr lang="en-US" dirty="0"/>
          </a:p>
          <a:p>
            <a:r>
              <a:rPr lang="en-US" dirty="0"/>
              <a:t>TD3 achieved the lowest TIR (64.30%) with dangerous 35.70% hypoglycemia caused by replay buffer reinforcing aggressive insulin doses.</a:t>
            </a:r>
          </a:p>
          <a:p>
            <a:endParaRPr lang="en-US" dirty="0"/>
          </a:p>
          <a:p>
            <a:r>
              <a:rPr lang="en-US" dirty="0"/>
              <a:t>On-policy (PPO) outperformed off-policy (TD3) in clinical safety, confirming on-policy methods are better suited for continuous insulin control.</a:t>
            </a:r>
          </a:p>
          <a:p>
            <a:endParaRPr lang="en-US" dirty="0"/>
          </a:p>
          <a:p>
            <a:r>
              <a:rPr lang="en-US" dirty="0"/>
              <a:t>ER-PPO achieved 81.60% TIR with only 1.50% hypoglycemia, exceeding the 75% clinical target — the only algorithm to do so.</a:t>
            </a:r>
          </a:p>
          <a:p>
            <a:endParaRPr lang="en-US" dirty="0"/>
          </a:p>
          <a:p>
            <a:r>
              <a:rPr lang="en-US" dirty="0"/>
              <a:t>Adaptive entropy decay (0.05→0.001) was the sole modification over PPO, delivering +16.24% TIR improvement with the same architecture and training budget.</a:t>
            </a:r>
          </a:p>
          <a:p>
            <a:endParaRPr lang="en-US" dirty="0"/>
          </a:p>
          <a:p>
            <a:r>
              <a:rPr lang="en-US" dirty="0"/>
              <a:t>ER-PPO is the best performing algorithm overall, achieving the highest TIR, lowest hypoglycemia rate, and safest insulin dosing among all three compared methods.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25771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A5D6-779C-DDAC-E896-845F5FB79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04ADB-0130-D8AA-027A-C4C8E79DB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513"/>
            <a:ext cx="10515600" cy="563548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4000" dirty="0"/>
              <a:t>[1] Sun, </a:t>
            </a:r>
            <a:r>
              <a:rPr lang="en-IN" sz="4000" dirty="0" err="1"/>
              <a:t>Qingnan</a:t>
            </a:r>
            <a:r>
              <a:rPr lang="en-IN" sz="4000" dirty="0"/>
              <a:t>, Marko V. Jankovic, Joao Budzinski, Brett Moore, Peter Diem, Christoph Stettler, and Stavroula G. </a:t>
            </a:r>
            <a:r>
              <a:rPr lang="en-IN" sz="4000" dirty="0" err="1"/>
              <a:t>Mougiakakou</a:t>
            </a:r>
            <a:r>
              <a:rPr lang="en-IN" sz="4000" dirty="0"/>
              <a:t>. “A Dual Mode Adaptive Basal-Bolus Advisor Based on Reinforcement Learning.” </a:t>
            </a:r>
            <a:r>
              <a:rPr lang="en-IN" sz="4000" i="1" dirty="0"/>
              <a:t>IEEE Journal of Biomedical and Health Informatics</a:t>
            </a:r>
            <a:r>
              <a:rPr lang="en-IN" sz="4000" dirty="0"/>
              <a:t>, vol. 26, no. 1, 2022, pp. 436–445. IEEE. </a:t>
            </a:r>
            <a:r>
              <a:rPr lang="en-IN" sz="4000" dirty="0">
                <a:hlinkClick r:id="rId2"/>
              </a:rPr>
              <a:t>https://doi.org/10.1109/JBHI.2021.3100558</a:t>
            </a:r>
            <a:r>
              <a:rPr lang="en-IN" sz="4000" dirty="0"/>
              <a:t>.</a:t>
            </a:r>
          </a:p>
          <a:p>
            <a:pPr marL="0" indent="0">
              <a:buNone/>
            </a:pPr>
            <a:r>
              <a:rPr lang="en-IN" sz="4000" dirty="0"/>
              <a:t>[2] Zhu, Tingting, et al. “Optimized </a:t>
            </a:r>
            <a:r>
              <a:rPr lang="en-IN" sz="4000" dirty="0" err="1"/>
              <a:t>Glycemic</a:t>
            </a:r>
            <a:r>
              <a:rPr lang="en-IN" sz="4000" dirty="0"/>
              <a:t> Control of Type 2 Diabetes with Reinforcement Learning: A Proof-of-Concept Trial.” </a:t>
            </a:r>
            <a:r>
              <a:rPr lang="en-IN" sz="4000" i="1" dirty="0"/>
              <a:t>Nature Medicine</a:t>
            </a:r>
            <a:r>
              <a:rPr lang="en-IN" sz="4000" dirty="0"/>
              <a:t>, vol. 29, 2023, pp. 1670–1680. Springer Nature. </a:t>
            </a:r>
            <a:r>
              <a:rPr lang="en-IN" sz="4000" dirty="0">
                <a:hlinkClick r:id="rId3"/>
              </a:rPr>
              <a:t>https://www.nature.com/articles/s41591-023-02552-9</a:t>
            </a:r>
            <a:r>
              <a:rPr lang="en-IN" sz="4000" dirty="0"/>
              <a:t>.</a:t>
            </a:r>
          </a:p>
          <a:p>
            <a:pPr marL="0" indent="0">
              <a:buNone/>
            </a:pPr>
            <a:r>
              <a:rPr lang="en-IN" sz="4000" dirty="0"/>
              <a:t>[3] Contreras, Ivan, et al. “Personalized Insulin Dosing Using Reinforcement Learning for High-Fat Meals and Exercise in Type 1 Diabetes: A Proof-of-Concept Trial.” </a:t>
            </a:r>
            <a:r>
              <a:rPr lang="en-IN" sz="4000" i="1" dirty="0"/>
              <a:t>Nature Communications</a:t>
            </a:r>
            <a:r>
              <a:rPr lang="en-IN" sz="4000" dirty="0"/>
              <a:t>, vol. 15, 2024, article no. 50764. Springer Nature. </a:t>
            </a:r>
            <a:r>
              <a:rPr lang="en-IN" sz="4000" dirty="0">
                <a:hlinkClick r:id="rId4"/>
              </a:rPr>
              <a:t>https://www.nature.com/articles/s41467-024-50764-5</a:t>
            </a:r>
            <a:r>
              <a:rPr lang="en-IN" sz="4000" dirty="0"/>
              <a:t>.</a:t>
            </a:r>
          </a:p>
          <a:p>
            <a:pPr marL="0" indent="0">
              <a:buNone/>
            </a:pPr>
            <a:r>
              <a:rPr lang="en-IN" sz="4000" dirty="0"/>
              <a:t>[4] Chen, Xiaoyu, et al. “Deep Reinforcement Learning for Personalized Insulin Dosing and Glucose Control of Hospitalized ICU Patients.” </a:t>
            </a:r>
            <a:r>
              <a:rPr lang="en-IN" sz="4000" i="1" dirty="0"/>
              <a:t>International Journal of Data Science and Analytics</a:t>
            </a:r>
            <a:r>
              <a:rPr lang="en-IN" sz="4000" dirty="0"/>
              <a:t>, vol. 15, 2025, pp. 1–19. Springer. </a:t>
            </a:r>
            <a:r>
              <a:rPr lang="en-IN" sz="4000" dirty="0">
                <a:hlinkClick r:id="rId5"/>
              </a:rPr>
              <a:t>https://doi.org/10.1007/s41060-025-00857-1</a:t>
            </a:r>
            <a:r>
              <a:rPr lang="en-IN" sz="4000" dirty="0"/>
              <a:t>.</a:t>
            </a:r>
          </a:p>
          <a:p>
            <a:pPr marL="0" indent="0">
              <a:buNone/>
            </a:pPr>
            <a:r>
              <a:rPr lang="en-IN" sz="4000" dirty="0"/>
              <a:t>[5] Fox, Isaac, et al. “Deep Reinforcement Learning for Closed-Loop Blood Glucose Control in Type 1 Diabetes.” </a:t>
            </a:r>
            <a:r>
              <a:rPr lang="en-IN" sz="4000" i="1" dirty="0" err="1"/>
              <a:t>arXiv</a:t>
            </a:r>
            <a:r>
              <a:rPr lang="en-IN" sz="4000" i="1" dirty="0"/>
              <a:t> preprint</a:t>
            </a:r>
            <a:r>
              <a:rPr lang="en-IN" sz="4000" dirty="0"/>
              <a:t>, arXiv:2009.09051, 2020. </a:t>
            </a:r>
            <a:r>
              <a:rPr lang="en-IN" sz="4000" dirty="0">
                <a:hlinkClick r:id="rId6"/>
              </a:rPr>
              <a:t>https://arxiv.org/abs/2009.09051</a:t>
            </a:r>
            <a:r>
              <a:rPr lang="en-IN" sz="4000" dirty="0"/>
              <a:t>.</a:t>
            </a:r>
          </a:p>
          <a:p>
            <a:pPr marL="0" indent="0">
              <a:buNone/>
            </a:pPr>
            <a:r>
              <a:rPr lang="en-IN" sz="4000" dirty="0"/>
              <a:t>[6] </a:t>
            </a:r>
            <a:r>
              <a:rPr lang="en-IN" sz="4000" dirty="0" err="1"/>
              <a:t>Pappada</a:t>
            </a:r>
            <a:r>
              <a:rPr lang="en-IN" sz="4000" dirty="0"/>
              <a:t>, Scott M., et al. “A Reinforcement Learning–Based Method for Management of Type 1 Diabetes: Exploratory Study.” </a:t>
            </a:r>
            <a:r>
              <a:rPr lang="en-IN" sz="4000" i="1" dirty="0"/>
              <a:t>JMIR Diabetes</a:t>
            </a:r>
            <a:r>
              <a:rPr lang="en-IN" sz="4000" dirty="0"/>
              <a:t>, vol. 4, no. 3, 2019, e12905. JMIR Publications. </a:t>
            </a:r>
            <a:r>
              <a:rPr lang="en-IN" sz="4000" dirty="0">
                <a:hlinkClick r:id="rId7"/>
              </a:rPr>
              <a:t>https://diabetes.jmir.org/2019/3/e12905/</a:t>
            </a:r>
            <a:r>
              <a:rPr lang="en-IN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0483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4182</TotalTime>
  <Words>2640</Words>
  <Application>Microsoft Office PowerPoint</Application>
  <PresentationFormat>Widescreen</PresentationFormat>
  <Paragraphs>230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AngsanaUPC</vt:lpstr>
      <vt:lpstr>Arial</vt:lpstr>
      <vt:lpstr>Arial Unicode MS</vt:lpstr>
      <vt:lpstr>Calibri</vt:lpstr>
      <vt:lpstr>Calibri Light</vt:lpstr>
      <vt:lpstr>Cambria Math</vt:lpstr>
      <vt:lpstr>Times New Roman</vt:lpstr>
      <vt:lpstr>ui-sans-serif</vt:lpstr>
      <vt:lpstr>Office Theme</vt:lpstr>
      <vt:lpstr>PowerPoint Presentation</vt:lpstr>
      <vt:lpstr>Agenda</vt:lpstr>
      <vt:lpstr>Introduction</vt:lpstr>
      <vt:lpstr>Problem Statement</vt:lpstr>
      <vt:lpstr>Objectives</vt:lpstr>
      <vt:lpstr>Outcomes</vt:lpstr>
      <vt:lpstr>Literature Review</vt:lpstr>
      <vt:lpstr>Literature Review</vt:lpstr>
      <vt:lpstr>Datasets and Requirements</vt:lpstr>
      <vt:lpstr>Algorithms used in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PPO – Proximal Policy Optimization</vt:lpstr>
      <vt:lpstr>ER-PPO – Entropy-Regulated Proximal Policy Optimization</vt:lpstr>
      <vt:lpstr>TD3 – Twin Delayed Deep Deterministic Policy Gradient</vt:lpstr>
      <vt:lpstr>Architecture Diagram</vt:lpstr>
      <vt:lpstr>Architecture Diagram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Sarayu Guntupalli</dc:creator>
  <cp:lastModifiedBy>Ashraf Md</cp:lastModifiedBy>
  <cp:revision>18</cp:revision>
  <dcterms:created xsi:type="dcterms:W3CDTF">2025-09-15T08:25:12Z</dcterms:created>
  <dcterms:modified xsi:type="dcterms:W3CDTF">2026-04-21T06:22:16Z</dcterms:modified>
</cp:coreProperties>
</file>